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0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611"/>
    <p:restoredTop sz="94610"/>
  </p:normalViewPr>
  <p:slideViewPr>
    <p:cSldViewPr snapToGrid="0" snapToObjects="1">
      <p:cViewPr varScale="1">
        <p:scale>
          <a:sx n="116" d="100"/>
          <a:sy n="116" d="100"/>
        </p:scale>
        <p:origin x="354" y="10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presProps" Target="presProps.xml"/><Relationship Id="rId5" Type="http://schemas.openxmlformats.org/officeDocument/2006/relationships/slide" Target="slides/slide4.xml"/><Relationship Id="rId10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37184460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Знакомьтесь: минутки — школьная валюта «Поколения». Сегодня расскажем, как их заработать и на что потратить.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Минутка — наша собственная школьная валюта. Её зарабатывают своими делами и тратят в буфете по курсу 30 рублей за минутку.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Четыре способа заработать минутки. Мероприятия: за организацию — 5 минуток, за помощь в проведении (выступление, пересказ содержания) — 2 минутки. Спортивные соревнования: за первое место — 3 минутки каждому участнику команды. За призовые места в квизах: первое место — 3 минутки, второе — 2, третье — 1. За творческие проекты — сколько решит учитель.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Проект — это ваше собственное творчество: рисунок, программа, рассказ или что-то совсем другое. Покажите работу учителю: он решает, считается ли она проектом и сколько минуток за неё дать.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Всё просто: сделал полезное или интересное дело — получил минутки — потратил их в буфете.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Тратить минутки можно в школьном буфете. Курс простой: одна минутка равна тридцати рублям.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Перевести легко: делим цену в рублях на тридцать. Товар за девяносто рублей стоит три минутки.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Каждое интересное дело может принести минутки. Организуйте, помогайте, участвуйте в квизах и создавайте свои проекты!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body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12800" y="812800"/>
            <a:ext cx="105664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>
            <a:lvl1pPr marL="0" indent="0" algn="l">
              <a:lnSpc>
                <a:spcPct val="115000"/>
              </a:lnSpc>
              <a:buNone/>
              <a:defRPr lang="en-US" sz="3600" dirty="0">
                <a:solidFill>
                  <a:srgbClr val="1D2433"/>
                </a:solidFill>
                <a:latin typeface="Nunito" pitchFamily="34" charset="0"/>
                <a:ea typeface="Nunito" pitchFamily="34" charset="-122"/>
                <a:cs typeface="Nunito" pitchFamily="34" charset="-120"/>
              </a:defRPr>
            </a:lvl1pPr>
          </a:lstStyle>
          <a:p>
            <a:pPr marL="0" indent="0" algn="l">
              <a:lnSpc>
                <a:spcPct val="115000"/>
              </a:lnSpc>
              <a:buNone/>
            </a:pPr>
            <a:endParaRPr lang="en-US" sz="3600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01"/>
          </p:nvPr>
        </p:nvSpPr>
        <p:spPr>
          <a:xfrm>
            <a:off x="812800" y="1620520"/>
            <a:ext cx="10566400" cy="4424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>
            <a:lvl1pPr marL="0" indent="0" algn="l">
              <a:lnSpc>
                <a:spcPct val="140000"/>
              </a:lnSpc>
              <a:buNone/>
              <a:defRPr lang="en-US" sz="1600" dirty="0">
                <a:solidFill>
                  <a:srgbClr val="1D2433"/>
                </a:solidFill>
                <a:latin typeface="Nunito" pitchFamily="34" charset="0"/>
                <a:ea typeface="Nunito" pitchFamily="34" charset="-122"/>
                <a:cs typeface="Nunito" pitchFamily="34" charset="-120"/>
              </a:defRPr>
            </a:lvl1pPr>
          </a:lstStyle>
          <a:p>
            <a:pPr marL="0" indent="0" algn="l">
              <a:lnSpc>
                <a:spcPct val="140000"/>
              </a:lnSpc>
              <a:buNone/>
            </a:pPr>
            <a:endParaRPr lang="en-US" sz="1600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12800" y="812800"/>
            <a:ext cx="105664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>
            <a:lvl1pPr marL="0" indent="0" algn="l">
              <a:lnSpc>
                <a:spcPct val="115000"/>
              </a:lnSpc>
              <a:buNone/>
              <a:defRPr lang="en-US" sz="3600" dirty="0">
                <a:solidFill>
                  <a:srgbClr val="1D2433"/>
                </a:solidFill>
                <a:latin typeface="Nunito" pitchFamily="34" charset="0"/>
                <a:ea typeface="Nunito" pitchFamily="34" charset="-122"/>
                <a:cs typeface="Nunito" pitchFamily="34" charset="-120"/>
              </a:defRPr>
            </a:lvl1pPr>
          </a:lstStyle>
          <a:p>
            <a:pPr marL="0" indent="0" algn="l">
              <a:lnSpc>
                <a:spcPct val="115000"/>
              </a:lnSpc>
              <a:buNone/>
            </a:pPr>
            <a:endParaRPr lang="en-US" sz="3600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01"/>
          </p:nvPr>
        </p:nvSpPr>
        <p:spPr>
          <a:xfrm>
            <a:off x="812800" y="1620520"/>
            <a:ext cx="10566400" cy="4424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>
            <a:lvl1pPr marL="0" indent="0" algn="l">
              <a:lnSpc>
                <a:spcPct val="140000"/>
              </a:lnSpc>
              <a:buNone/>
              <a:defRPr lang="en-US" sz="1600" dirty="0">
                <a:solidFill>
                  <a:srgbClr val="1D2433"/>
                </a:solidFill>
                <a:latin typeface="Nunito" pitchFamily="34" charset="0"/>
                <a:ea typeface="Nunito" pitchFamily="34" charset="-122"/>
                <a:cs typeface="Nunito" pitchFamily="34" charset="-120"/>
              </a:defRPr>
            </a:lvl1pPr>
          </a:lstStyle>
          <a:p>
            <a:pPr marL="0" indent="0" algn="l">
              <a:lnSpc>
                <a:spcPct val="140000"/>
              </a:lnSpc>
              <a:buNone/>
            </a:pPr>
            <a:endParaRPr lang="en-US" sz="1600" dirty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.png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4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Логотип школы «Поколение»"/>
          <p:cNvPicPr>
            <a:picLocks noChangeAspect="1"/>
          </p:cNvPicPr>
          <p:nvPr/>
        </p:nvPicPr>
        <p:blipFill>
          <a:blip r:embed="rId3"/>
          <a:srcRect t="-1020" b="-1020"/>
          <a:stretch/>
        </p:blipFill>
        <p:spPr>
          <a:xfrm>
            <a:off x="812800" y="1720850"/>
            <a:ext cx="1143000" cy="1143000"/>
          </a:xfrm>
          <a:prstGeom prst="rect">
            <a:avLst/>
          </a:prstGeom>
        </p:spPr>
      </p:pic>
      <p:sp>
        <p:nvSpPr>
          <p:cNvPr id="3" name="Text 0"/>
          <p:cNvSpPr>
            <a:spLocks noGrp="1"/>
          </p:cNvSpPr>
          <p:nvPr>
            <p:ph type="title"/>
          </p:nvPr>
        </p:nvSpPr>
        <p:spPr>
          <a:xfrm>
            <a:off x="812800" y="3067050"/>
            <a:ext cx="6939471" cy="10414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8000"/>
              </a:lnSpc>
              <a:buNone/>
            </a:pPr>
            <a:r>
              <a:rPr lang="en-US" sz="8000" b="1" i="0" dirty="0">
                <a:solidFill>
                  <a:srgbClr val="1D2433"/>
                </a:solidFill>
                <a:latin typeface="Nunito" pitchFamily="34" charset="0"/>
                <a:ea typeface="Nunito" pitchFamily="34" charset="-122"/>
                <a:cs typeface="Nunito" pitchFamily="34" charset="-120"/>
              </a:rPr>
              <a:t>Минутки</a:t>
            </a:r>
            <a:endParaRPr lang="en-US" sz="8000" dirty="0"/>
          </a:p>
        </p:txBody>
      </p:sp>
      <p:sp>
        <p:nvSpPr>
          <p:cNvPr id="4" name="Text 1"/>
          <p:cNvSpPr/>
          <p:nvPr/>
        </p:nvSpPr>
        <p:spPr>
          <a:xfrm>
            <a:off x="812800" y="4286250"/>
            <a:ext cx="6939471" cy="4064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3000"/>
              </a:lnSpc>
              <a:buNone/>
            </a:pPr>
            <a:r>
              <a:rPr lang="en-US" sz="2400" b="1" dirty="0">
                <a:solidFill>
                  <a:srgbClr val="2456C9"/>
                </a:solidFill>
                <a:latin typeface="Nunito" pitchFamily="34" charset="0"/>
                <a:ea typeface="Nunito" pitchFamily="34" charset="-122"/>
                <a:cs typeface="Nunito" pitchFamily="34" charset="-120"/>
              </a:rPr>
              <a:t>Школьная валюта ЧОУ СОШ «Поколение»</a:t>
            </a:r>
            <a:endParaRPr lang="en-US" sz="2400" dirty="0"/>
          </a:p>
        </p:txBody>
      </p:sp>
      <p:sp>
        <p:nvSpPr>
          <p:cNvPr id="5" name="Text 2"/>
          <p:cNvSpPr/>
          <p:nvPr/>
        </p:nvSpPr>
        <p:spPr>
          <a:xfrm>
            <a:off x="812800" y="4870450"/>
            <a:ext cx="6939471" cy="2895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2080"/>
              </a:lnSpc>
              <a:buNone/>
            </a:pPr>
            <a:r>
              <a:rPr lang="en-US" sz="1600" dirty="0">
                <a:solidFill>
                  <a:srgbClr val="5B6475"/>
                </a:solidFill>
                <a:latin typeface="Nunito" pitchFamily="34" charset="0"/>
                <a:ea typeface="Nunito" pitchFamily="34" charset="-122"/>
                <a:cs typeface="Nunito" pitchFamily="34" charset="-120"/>
              </a:rPr>
              <a:t>Зарабатывай делами — трать в буфете</a:t>
            </a:r>
            <a:endParaRPr lang="en-US" sz="1600" dirty="0"/>
          </a:p>
        </p:txBody>
      </p:sp>
      <p:pic>
        <p:nvPicPr>
          <p:cNvPr id="6" name="Image 1" descr="Монета-минутка: золотая монета с часами"/>
          <p:cNvPicPr>
            <a:picLocks noChangeAspect="1"/>
          </p:cNvPicPr>
          <p:nvPr/>
        </p:nvPicPr>
        <p:blipFill>
          <a:blip r:embed="rId4"/>
          <a:srcRect/>
          <a:stretch/>
        </p:blipFill>
        <p:spPr>
          <a:xfrm>
            <a:off x="8077200" y="1778000"/>
            <a:ext cx="3302000" cy="330200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title"/>
          </p:nvPr>
        </p:nvSpPr>
        <p:spPr>
          <a:xfrm>
            <a:off x="812800" y="812800"/>
            <a:ext cx="10883392" cy="5283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3960"/>
              </a:lnSpc>
              <a:buNone/>
            </a:pPr>
            <a:r>
              <a:rPr lang="en-US" sz="3600" b="1" i="0" dirty="0">
                <a:solidFill>
                  <a:srgbClr val="1D2433"/>
                </a:solidFill>
                <a:latin typeface="Nunito" pitchFamily="34" charset="0"/>
                <a:ea typeface="Nunito" pitchFamily="34" charset="-122"/>
                <a:cs typeface="Nunito" pitchFamily="34" charset="-120"/>
              </a:rPr>
              <a:t>Что такое минутка</a:t>
            </a:r>
            <a:endParaRPr lang="en-US" sz="3600" dirty="0"/>
          </a:p>
        </p:txBody>
      </p:sp>
      <p:sp>
        <p:nvSpPr>
          <p:cNvPr id="3" name="Text 1"/>
          <p:cNvSpPr/>
          <p:nvPr/>
        </p:nvSpPr>
        <p:spPr>
          <a:xfrm>
            <a:off x="812800" y="2542540"/>
            <a:ext cx="9810750" cy="9499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3640"/>
              </a:lnSpc>
              <a:buNone/>
            </a:pPr>
            <a:r>
              <a:rPr lang="en-US" sz="2800" b="1" dirty="0">
                <a:solidFill>
                  <a:srgbClr val="1D2433"/>
                </a:solidFill>
                <a:latin typeface="Nunito" pitchFamily="34" charset="0"/>
                <a:ea typeface="Nunito" pitchFamily="34" charset="-122"/>
                <a:cs typeface="Nunito" pitchFamily="34" charset="-120"/>
              </a:rPr>
              <a:t>Минутка — школьная валюта. Её </a:t>
            </a:r>
            <a:r>
              <a:rPr lang="en-US" sz="2800" b="1" dirty="0">
                <a:solidFill>
                  <a:srgbClr val="2456C9"/>
                </a:solidFill>
                <a:latin typeface="Nunito" pitchFamily="34" charset="0"/>
                <a:ea typeface="Nunito" pitchFamily="34" charset="-122"/>
                <a:cs typeface="Nunito" pitchFamily="34" charset="-120"/>
              </a:rPr>
              <a:t>зарабатывают своими делами</a:t>
            </a:r>
            <a:r>
              <a:rPr lang="en-US" sz="2800" b="1" dirty="0">
                <a:solidFill>
                  <a:srgbClr val="1D2433"/>
                </a:solidFill>
                <a:latin typeface="Nunito" pitchFamily="34" charset="0"/>
                <a:ea typeface="Nunito" pitchFamily="34" charset="-122"/>
                <a:cs typeface="Nunito" pitchFamily="34" charset="-120"/>
              </a:rPr>
              <a:t> и </a:t>
            </a:r>
            <a:r>
              <a:rPr lang="en-US" sz="2800" b="1" dirty="0">
                <a:solidFill>
                  <a:srgbClr val="2456C9"/>
                </a:solidFill>
                <a:latin typeface="Nunito" pitchFamily="34" charset="0"/>
                <a:ea typeface="Nunito" pitchFamily="34" charset="-122"/>
                <a:cs typeface="Nunito" pitchFamily="34" charset="-120"/>
              </a:rPr>
              <a:t>тратят в школьном буфете</a:t>
            </a:r>
            <a:r>
              <a:rPr lang="en-US" sz="2800" b="1" dirty="0">
                <a:solidFill>
                  <a:srgbClr val="1D2433"/>
                </a:solidFill>
                <a:latin typeface="Nunito" pitchFamily="34" charset="0"/>
                <a:ea typeface="Nunito" pitchFamily="34" charset="-122"/>
                <a:cs typeface="Nunito" pitchFamily="34" charset="-120"/>
              </a:rPr>
              <a:t>.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812800" y="4693920"/>
            <a:ext cx="3420533" cy="1148080"/>
          </a:xfrm>
          <a:prstGeom prst="roundRect">
            <a:avLst>
              <a:gd name="adj" fmla="val 11062"/>
            </a:avLst>
          </a:prstGeom>
          <a:solidFill>
            <a:srgbClr val="F4F6FB"/>
          </a:solidFill>
          <a:ln/>
        </p:spPr>
      </p:sp>
      <p:sp>
        <p:nvSpPr>
          <p:cNvPr id="5" name="Text 3"/>
          <p:cNvSpPr/>
          <p:nvPr/>
        </p:nvSpPr>
        <p:spPr>
          <a:xfrm>
            <a:off x="1041400" y="4922520"/>
            <a:ext cx="3052233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960"/>
              </a:lnSpc>
              <a:buNone/>
            </a:pPr>
            <a:r>
              <a:rPr lang="en-US" sz="1400" dirty="0">
                <a:solidFill>
                  <a:srgbClr val="5B6475"/>
                </a:solidFill>
                <a:latin typeface="Nunito" pitchFamily="34" charset="0"/>
                <a:ea typeface="Nunito" pitchFamily="34" charset="-122"/>
                <a:cs typeface="Nunito" pitchFamily="34" charset="-120"/>
              </a:rPr>
              <a:t>Зарабатывай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1041400" y="5222240"/>
            <a:ext cx="3052233" cy="4165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3080"/>
              </a:lnSpc>
              <a:buNone/>
            </a:pPr>
            <a:r>
              <a:rPr lang="en-US" sz="2200" b="1" dirty="0">
                <a:solidFill>
                  <a:srgbClr val="1D2433"/>
                </a:solidFill>
                <a:latin typeface="Nunito" pitchFamily="34" charset="0"/>
                <a:ea typeface="Nunito" pitchFamily="34" charset="-122"/>
                <a:cs typeface="Nunito" pitchFamily="34" charset="-120"/>
              </a:rPr>
              <a:t>делами</a:t>
            </a:r>
            <a:endParaRPr lang="en-US" sz="2200" dirty="0"/>
          </a:p>
        </p:txBody>
      </p:sp>
      <p:sp>
        <p:nvSpPr>
          <p:cNvPr id="7" name="Shape 5"/>
          <p:cNvSpPr/>
          <p:nvPr/>
        </p:nvSpPr>
        <p:spPr>
          <a:xfrm>
            <a:off x="4385733" y="4693920"/>
            <a:ext cx="3420533" cy="1148080"/>
          </a:xfrm>
          <a:prstGeom prst="roundRect">
            <a:avLst>
              <a:gd name="adj" fmla="val 11062"/>
            </a:avLst>
          </a:prstGeom>
          <a:solidFill>
            <a:srgbClr val="F4F6FB"/>
          </a:solidFill>
          <a:ln/>
        </p:spPr>
      </p:sp>
      <p:sp>
        <p:nvSpPr>
          <p:cNvPr id="8" name="Text 6"/>
          <p:cNvSpPr/>
          <p:nvPr/>
        </p:nvSpPr>
        <p:spPr>
          <a:xfrm>
            <a:off x="4614333" y="4922520"/>
            <a:ext cx="3052233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960"/>
              </a:lnSpc>
              <a:buNone/>
            </a:pPr>
            <a:r>
              <a:rPr lang="en-US" sz="1400" dirty="0">
                <a:solidFill>
                  <a:srgbClr val="5B6475"/>
                </a:solidFill>
                <a:latin typeface="Nunito" pitchFamily="34" charset="0"/>
                <a:ea typeface="Nunito" pitchFamily="34" charset="-122"/>
                <a:cs typeface="Nunito" pitchFamily="34" charset="-120"/>
              </a:rPr>
              <a:t>Трать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4614333" y="5222240"/>
            <a:ext cx="3052233" cy="4165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3080"/>
              </a:lnSpc>
              <a:buNone/>
            </a:pPr>
            <a:r>
              <a:rPr lang="en-US" sz="2200" b="1" dirty="0">
                <a:solidFill>
                  <a:srgbClr val="1D2433"/>
                </a:solidFill>
                <a:latin typeface="Nunito" pitchFamily="34" charset="0"/>
                <a:ea typeface="Nunito" pitchFamily="34" charset="-122"/>
                <a:cs typeface="Nunito" pitchFamily="34" charset="-120"/>
              </a:rPr>
              <a:t>в буфете</a:t>
            </a:r>
            <a:endParaRPr lang="en-US" sz="2200" dirty="0"/>
          </a:p>
        </p:txBody>
      </p:sp>
      <p:sp>
        <p:nvSpPr>
          <p:cNvPr id="10" name="Shape 8"/>
          <p:cNvSpPr/>
          <p:nvPr/>
        </p:nvSpPr>
        <p:spPr>
          <a:xfrm>
            <a:off x="7958667" y="4693920"/>
            <a:ext cx="3420533" cy="1148080"/>
          </a:xfrm>
          <a:prstGeom prst="roundRect">
            <a:avLst>
              <a:gd name="adj" fmla="val 11062"/>
            </a:avLst>
          </a:prstGeom>
          <a:solidFill>
            <a:srgbClr val="F4F6FB"/>
          </a:solidFill>
          <a:ln/>
        </p:spPr>
      </p:sp>
      <p:sp>
        <p:nvSpPr>
          <p:cNvPr id="11" name="Text 9"/>
          <p:cNvSpPr/>
          <p:nvPr/>
        </p:nvSpPr>
        <p:spPr>
          <a:xfrm>
            <a:off x="8187267" y="4922520"/>
            <a:ext cx="3052233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960"/>
              </a:lnSpc>
              <a:buNone/>
            </a:pPr>
            <a:r>
              <a:rPr lang="en-US" sz="1400" dirty="0">
                <a:solidFill>
                  <a:srgbClr val="5B6475"/>
                </a:solidFill>
                <a:latin typeface="Nunito" pitchFamily="34" charset="0"/>
                <a:ea typeface="Nunito" pitchFamily="34" charset="-122"/>
                <a:cs typeface="Nunito" pitchFamily="34" charset="-120"/>
              </a:rPr>
              <a:t>Курс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8187267" y="5222240"/>
            <a:ext cx="3052233" cy="4165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3080"/>
              </a:lnSpc>
              <a:buNone/>
            </a:pPr>
            <a:r>
              <a:rPr lang="en-US" sz="2200" b="1" dirty="0">
                <a:solidFill>
                  <a:srgbClr val="1D2433"/>
                </a:solidFill>
                <a:latin typeface="Nunito" pitchFamily="34" charset="0"/>
                <a:ea typeface="Nunito" pitchFamily="34" charset="-122"/>
                <a:cs typeface="Nunito" pitchFamily="34" charset="-120"/>
              </a:rPr>
              <a:t>1 минутка = 30 ₽</a:t>
            </a:r>
            <a:endParaRPr lang="en-US" sz="2200" dirty="0"/>
          </a:p>
        </p:txBody>
      </p:sp>
      <p:sp>
        <p:nvSpPr>
          <p:cNvPr id="13" name="Text 11"/>
          <p:cNvSpPr/>
          <p:nvPr/>
        </p:nvSpPr>
        <p:spPr>
          <a:xfrm>
            <a:off x="812800" y="6238239"/>
            <a:ext cx="7848600" cy="238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680"/>
              </a:lnSpc>
              <a:buNone/>
            </a:pPr>
            <a:r>
              <a:rPr lang="en-US" sz="1200" dirty="0">
                <a:solidFill>
                  <a:srgbClr val="5B6475"/>
                </a:solidFill>
                <a:latin typeface="Nunito" pitchFamily="34" charset="0"/>
                <a:ea typeface="Nunito" pitchFamily="34" charset="-122"/>
                <a:cs typeface="Nunito" pitchFamily="34" charset="-120"/>
              </a:rPr>
              <a:t>ЧОУ СОШ «Поколение» · Минутки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10058400" y="6238239"/>
            <a:ext cx="1320800" cy="238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r">
              <a:lnSpc>
                <a:spcPts val="1680"/>
              </a:lnSpc>
              <a:buNone/>
            </a:pPr>
            <a:r>
              <a:rPr lang="en-US" sz="1200" dirty="0">
                <a:solidFill>
                  <a:srgbClr val="5B6475"/>
                </a:solidFill>
                <a:latin typeface="Nunito" pitchFamily="34" charset="0"/>
                <a:ea typeface="Nunito" pitchFamily="34" charset="-122"/>
                <a:cs typeface="Nunito" pitchFamily="34" charset="-120"/>
              </a:rPr>
              <a:t>2</a:t>
            </a:r>
            <a:endParaRPr lang="en-US" sz="12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title"/>
          </p:nvPr>
        </p:nvSpPr>
        <p:spPr>
          <a:xfrm>
            <a:off x="812800" y="812800"/>
            <a:ext cx="10883392" cy="5283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3960"/>
              </a:lnSpc>
              <a:buNone/>
            </a:pPr>
            <a:r>
              <a:rPr lang="en-US" sz="3600" b="1" i="0" dirty="0">
                <a:solidFill>
                  <a:srgbClr val="1D2433"/>
                </a:solidFill>
                <a:latin typeface="Nunito" pitchFamily="34" charset="0"/>
                <a:ea typeface="Nunito" pitchFamily="34" charset="-122"/>
                <a:cs typeface="Nunito" pitchFamily="34" charset="-120"/>
              </a:rPr>
              <a:t>Как заработать минутки</a:t>
            </a:r>
            <a:endParaRPr lang="en-US" sz="3600" dirty="0"/>
          </a:p>
        </p:txBody>
      </p:sp>
      <p:sp>
        <p:nvSpPr>
          <p:cNvPr id="3" name="Shape 1"/>
          <p:cNvSpPr/>
          <p:nvPr/>
        </p:nvSpPr>
        <p:spPr>
          <a:xfrm>
            <a:off x="812800" y="2255520"/>
            <a:ext cx="5207000" cy="1717040"/>
          </a:xfrm>
          <a:prstGeom prst="roundRect">
            <a:avLst>
              <a:gd name="adj" fmla="val 7396"/>
            </a:avLst>
          </a:prstGeom>
          <a:solidFill>
            <a:srgbClr val="F4F6FB"/>
          </a:solidFill>
          <a:ln/>
        </p:spPr>
      </p:sp>
      <p:sp>
        <p:nvSpPr>
          <p:cNvPr id="4" name="Text 2"/>
          <p:cNvSpPr/>
          <p:nvPr/>
        </p:nvSpPr>
        <p:spPr>
          <a:xfrm>
            <a:off x="1066800" y="2509520"/>
            <a:ext cx="4839970" cy="3098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2240"/>
              </a:lnSpc>
              <a:buNone/>
            </a:pPr>
            <a:r>
              <a:rPr lang="en-US" sz="1600" b="1" dirty="0">
                <a:solidFill>
                  <a:srgbClr val="2456C9"/>
                </a:solidFill>
                <a:latin typeface="Nunito" pitchFamily="34" charset="0"/>
                <a:ea typeface="Nunito" pitchFamily="34" charset="-122"/>
                <a:cs typeface="Nunito" pitchFamily="34" charset="-120"/>
              </a:rPr>
              <a:t>+5 / +2 минутки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1066800" y="2870200"/>
            <a:ext cx="4839970" cy="3175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2300"/>
              </a:lnSpc>
              <a:buNone/>
            </a:pPr>
            <a:r>
              <a:rPr lang="ru-RU" sz="2000" b="1" dirty="0" smtClean="0">
                <a:solidFill>
                  <a:srgbClr val="1D2433"/>
                </a:solidFill>
                <a:ea typeface="Nunito" pitchFamily="34" charset="-122"/>
              </a:rPr>
              <a:t>Мероприятия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1066800" y="3238500"/>
            <a:ext cx="4839970" cy="5054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890"/>
              </a:lnSpc>
              <a:buNone/>
            </a:pPr>
            <a:r>
              <a:rPr lang="en-US" sz="1400" dirty="0">
                <a:solidFill>
                  <a:srgbClr val="3C4558"/>
                </a:solidFill>
                <a:latin typeface="Nunito" pitchFamily="34" charset="0"/>
                <a:ea typeface="Nunito" pitchFamily="34" charset="-122"/>
                <a:cs typeface="Nunito" pitchFamily="34" charset="-120"/>
              </a:rPr>
              <a:t>Организация — 5 минуток; помощь в проведении (выступление, пересказ содержания) — 2 минутки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6172200" y="2255520"/>
            <a:ext cx="5207000" cy="1717040"/>
          </a:xfrm>
          <a:prstGeom prst="roundRect">
            <a:avLst>
              <a:gd name="adj" fmla="val 7396"/>
            </a:avLst>
          </a:prstGeom>
          <a:solidFill>
            <a:srgbClr val="F4F6FB"/>
          </a:solidFill>
          <a:ln/>
        </p:spPr>
      </p:sp>
      <p:sp>
        <p:nvSpPr>
          <p:cNvPr id="8" name="Text 6"/>
          <p:cNvSpPr/>
          <p:nvPr/>
        </p:nvSpPr>
        <p:spPr>
          <a:xfrm>
            <a:off x="6426200" y="2509520"/>
            <a:ext cx="4839970" cy="3098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2240"/>
              </a:lnSpc>
              <a:buNone/>
            </a:pPr>
            <a:r>
              <a:rPr lang="en-US" sz="1600" b="1" dirty="0" smtClean="0">
                <a:solidFill>
                  <a:srgbClr val="2456C9"/>
                </a:solidFill>
                <a:latin typeface="Nunito" pitchFamily="34" charset="0"/>
                <a:ea typeface="Nunito" pitchFamily="34" charset="-122"/>
                <a:cs typeface="Nunito" pitchFamily="34" charset="-120"/>
              </a:rPr>
              <a:t>+3 </a:t>
            </a:r>
            <a:r>
              <a:rPr lang="en-US" sz="1600" b="1" dirty="0">
                <a:solidFill>
                  <a:srgbClr val="2456C9"/>
                </a:solidFill>
                <a:latin typeface="Nunito" pitchFamily="34" charset="0"/>
                <a:ea typeface="Nunito" pitchFamily="34" charset="-122"/>
                <a:cs typeface="Nunito" pitchFamily="34" charset="-120"/>
              </a:rPr>
              <a:t>минутки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6426200" y="2870200"/>
            <a:ext cx="4839970" cy="3175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2300"/>
              </a:lnSpc>
              <a:buNone/>
            </a:pPr>
            <a:r>
              <a:rPr lang="en-US" sz="2000" b="1" dirty="0">
                <a:solidFill>
                  <a:srgbClr val="1D2433"/>
                </a:solidFill>
                <a:latin typeface="Nunito" pitchFamily="34" charset="0"/>
                <a:ea typeface="Nunito" pitchFamily="34" charset="-122"/>
                <a:cs typeface="Nunito" pitchFamily="34" charset="-120"/>
              </a:rPr>
              <a:t>Спортивные соревнования</a:t>
            </a:r>
            <a:endParaRPr lang="en-US" sz="2000" dirty="0"/>
          </a:p>
        </p:txBody>
      </p:sp>
      <p:sp>
        <p:nvSpPr>
          <p:cNvPr id="10" name="Text 8"/>
          <p:cNvSpPr/>
          <p:nvPr/>
        </p:nvSpPr>
        <p:spPr>
          <a:xfrm>
            <a:off x="6426200" y="3238500"/>
            <a:ext cx="4839970" cy="5054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890"/>
              </a:lnSpc>
              <a:buNone/>
            </a:pPr>
            <a:r>
              <a:rPr lang="en-US" sz="1400" dirty="0">
                <a:solidFill>
                  <a:srgbClr val="3C4558"/>
                </a:solidFill>
                <a:latin typeface="Nunito" pitchFamily="34" charset="0"/>
                <a:ea typeface="Nunito" pitchFamily="34" charset="-122"/>
                <a:cs typeface="Nunito" pitchFamily="34" charset="-120"/>
              </a:rPr>
              <a:t>За I место — 3 минутки каждому участнику команды</a:t>
            </a:r>
            <a:endParaRPr lang="en-US" sz="1400" dirty="0"/>
          </a:p>
        </p:txBody>
      </p:sp>
      <p:sp>
        <p:nvSpPr>
          <p:cNvPr id="11" name="Shape 9"/>
          <p:cNvSpPr/>
          <p:nvPr/>
        </p:nvSpPr>
        <p:spPr>
          <a:xfrm>
            <a:off x="812800" y="4124961"/>
            <a:ext cx="5207000" cy="1717040"/>
          </a:xfrm>
          <a:prstGeom prst="roundRect">
            <a:avLst>
              <a:gd name="adj" fmla="val 7396"/>
            </a:avLst>
          </a:prstGeom>
          <a:solidFill>
            <a:srgbClr val="F4F6FB"/>
          </a:solidFill>
          <a:ln/>
        </p:spPr>
      </p:sp>
      <p:sp>
        <p:nvSpPr>
          <p:cNvPr id="12" name="Text 10"/>
          <p:cNvSpPr/>
          <p:nvPr/>
        </p:nvSpPr>
        <p:spPr>
          <a:xfrm>
            <a:off x="1066800" y="4378961"/>
            <a:ext cx="4839970" cy="3098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2240"/>
              </a:lnSpc>
              <a:buNone/>
            </a:pPr>
            <a:r>
              <a:rPr lang="en-US" sz="1600" b="1" dirty="0">
                <a:solidFill>
                  <a:srgbClr val="2456C9"/>
                </a:solidFill>
                <a:latin typeface="Nunito" pitchFamily="34" charset="0"/>
                <a:ea typeface="Nunito" pitchFamily="34" charset="-122"/>
                <a:cs typeface="Nunito" pitchFamily="34" charset="-120"/>
              </a:rPr>
              <a:t>+3 / +2 / +1 минутки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1066800" y="4739639"/>
            <a:ext cx="4839970" cy="3175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2300"/>
              </a:lnSpc>
              <a:buNone/>
            </a:pPr>
            <a:r>
              <a:rPr lang="ru-RU" sz="2000" b="1" dirty="0" smtClean="0">
                <a:solidFill>
                  <a:srgbClr val="1D2433"/>
                </a:solidFill>
                <a:ea typeface="Nunito" pitchFamily="34" charset="-122"/>
              </a:rPr>
              <a:t>Участие в мероприятиях </a:t>
            </a:r>
          </a:p>
        </p:txBody>
      </p:sp>
      <p:sp>
        <p:nvSpPr>
          <p:cNvPr id="14" name="Text 12"/>
          <p:cNvSpPr/>
          <p:nvPr/>
        </p:nvSpPr>
        <p:spPr>
          <a:xfrm>
            <a:off x="1066800" y="5107939"/>
            <a:ext cx="4839970" cy="5054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890"/>
              </a:lnSpc>
              <a:buNone/>
            </a:pPr>
            <a:r>
              <a:rPr lang="en-US" sz="1400" dirty="0">
                <a:solidFill>
                  <a:srgbClr val="3C4558"/>
                </a:solidFill>
                <a:latin typeface="Nunito" pitchFamily="34" charset="0"/>
                <a:ea typeface="Nunito" pitchFamily="34" charset="-122"/>
                <a:cs typeface="Nunito" pitchFamily="34" charset="-120"/>
              </a:rPr>
              <a:t>I место — 3 минутки, II место — 2 минутки, III место — 1 минутка</a:t>
            </a:r>
            <a:endParaRPr lang="en-US" sz="1400" dirty="0"/>
          </a:p>
        </p:txBody>
      </p:sp>
      <p:sp>
        <p:nvSpPr>
          <p:cNvPr id="15" name="Shape 13"/>
          <p:cNvSpPr/>
          <p:nvPr/>
        </p:nvSpPr>
        <p:spPr>
          <a:xfrm>
            <a:off x="6172200" y="4124961"/>
            <a:ext cx="5207000" cy="1717040"/>
          </a:xfrm>
          <a:prstGeom prst="roundRect">
            <a:avLst>
              <a:gd name="adj" fmla="val 7396"/>
            </a:avLst>
          </a:prstGeom>
          <a:solidFill>
            <a:srgbClr val="F4F6FB"/>
          </a:solidFill>
          <a:ln/>
        </p:spPr>
      </p:sp>
      <p:sp>
        <p:nvSpPr>
          <p:cNvPr id="16" name="Text 14"/>
          <p:cNvSpPr/>
          <p:nvPr/>
        </p:nvSpPr>
        <p:spPr>
          <a:xfrm>
            <a:off x="6426200" y="4378961"/>
            <a:ext cx="4839970" cy="3098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2240"/>
              </a:lnSpc>
              <a:buNone/>
            </a:pPr>
            <a:endParaRPr lang="ru-RU" sz="1600" b="1" dirty="0">
              <a:solidFill>
                <a:srgbClr val="2456C9"/>
              </a:solidFill>
              <a:ea typeface="Nunito" pitchFamily="34" charset="-122"/>
            </a:endParaRPr>
          </a:p>
          <a:p>
            <a:pPr marL="0" indent="0" algn="l">
              <a:lnSpc>
                <a:spcPts val="2240"/>
              </a:lnSpc>
              <a:buNone/>
            </a:pPr>
            <a:endParaRPr lang="en-US" sz="1600" dirty="0"/>
          </a:p>
        </p:txBody>
      </p:sp>
      <p:sp>
        <p:nvSpPr>
          <p:cNvPr id="17" name="Text 15"/>
          <p:cNvSpPr/>
          <p:nvPr/>
        </p:nvSpPr>
        <p:spPr>
          <a:xfrm>
            <a:off x="6426200" y="4739639"/>
            <a:ext cx="4839970" cy="3175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2300"/>
              </a:lnSpc>
              <a:buNone/>
            </a:pPr>
            <a:r>
              <a:rPr lang="ru-RU" sz="2000" b="1" dirty="0" smtClean="0">
                <a:solidFill>
                  <a:srgbClr val="1D2433"/>
                </a:solidFill>
                <a:ea typeface="Nunito" pitchFamily="34" charset="-122"/>
              </a:rPr>
              <a:t>Проектная деятельность</a:t>
            </a:r>
            <a:endParaRPr lang="en-US" sz="2000" dirty="0"/>
          </a:p>
        </p:txBody>
      </p:sp>
      <p:sp>
        <p:nvSpPr>
          <p:cNvPr id="18" name="Text 16"/>
          <p:cNvSpPr/>
          <p:nvPr/>
        </p:nvSpPr>
        <p:spPr>
          <a:xfrm>
            <a:off x="6426200" y="5107939"/>
            <a:ext cx="4953000" cy="26543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890"/>
              </a:lnSpc>
              <a:buNone/>
            </a:pPr>
            <a:r>
              <a:rPr lang="en-US" sz="1400" dirty="0">
                <a:solidFill>
                  <a:srgbClr val="3C4558"/>
                </a:solidFill>
                <a:latin typeface="Nunito" pitchFamily="34" charset="0"/>
                <a:ea typeface="Nunito" pitchFamily="34" charset="-122"/>
                <a:cs typeface="Nunito" pitchFamily="34" charset="-120"/>
              </a:rPr>
              <a:t>Рисунок, программа, свой рассказ и другое творчество</a:t>
            </a:r>
            <a:endParaRPr lang="en-US" sz="1400" dirty="0"/>
          </a:p>
        </p:txBody>
      </p:sp>
      <p:sp>
        <p:nvSpPr>
          <p:cNvPr id="19" name="Text 17"/>
          <p:cNvSpPr/>
          <p:nvPr/>
        </p:nvSpPr>
        <p:spPr>
          <a:xfrm>
            <a:off x="812800" y="6238239"/>
            <a:ext cx="7848600" cy="238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680"/>
              </a:lnSpc>
              <a:buNone/>
            </a:pPr>
            <a:r>
              <a:rPr lang="en-US" sz="1200" dirty="0">
                <a:solidFill>
                  <a:srgbClr val="5B6475"/>
                </a:solidFill>
                <a:latin typeface="Nunito" pitchFamily="34" charset="0"/>
                <a:ea typeface="Nunito" pitchFamily="34" charset="-122"/>
                <a:cs typeface="Nunito" pitchFamily="34" charset="-120"/>
              </a:rPr>
              <a:t>ЧОУ СОШ «Поколение» · Минутки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10058400" y="6238239"/>
            <a:ext cx="1320800" cy="238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r">
              <a:lnSpc>
                <a:spcPts val="1680"/>
              </a:lnSpc>
              <a:buNone/>
            </a:pPr>
            <a:r>
              <a:rPr lang="en-US" sz="1200" dirty="0">
                <a:solidFill>
                  <a:srgbClr val="5B6475"/>
                </a:solidFill>
                <a:latin typeface="Nunito" pitchFamily="34" charset="0"/>
                <a:ea typeface="Nunito" pitchFamily="34" charset="-122"/>
                <a:cs typeface="Nunito" pitchFamily="34" charset="-120"/>
              </a:rPr>
              <a:t>3</a:t>
            </a:r>
            <a:endParaRPr lang="en-US" sz="12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title"/>
          </p:nvPr>
        </p:nvSpPr>
        <p:spPr>
          <a:xfrm>
            <a:off x="812800" y="812800"/>
            <a:ext cx="10883392" cy="5283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3960"/>
              </a:lnSpc>
              <a:buNone/>
            </a:pPr>
            <a:r>
              <a:rPr lang="en-US" sz="3600" b="1" i="0" dirty="0">
                <a:solidFill>
                  <a:srgbClr val="1D2433"/>
                </a:solidFill>
                <a:latin typeface="Nunito" pitchFamily="34" charset="0"/>
                <a:ea typeface="Nunito" pitchFamily="34" charset="-122"/>
                <a:cs typeface="Nunito" pitchFamily="34" charset="-120"/>
              </a:rPr>
              <a:t>Что может стать проектом</a:t>
            </a:r>
            <a:endParaRPr lang="en-US" sz="3600" dirty="0"/>
          </a:p>
        </p:txBody>
      </p:sp>
      <p:sp>
        <p:nvSpPr>
          <p:cNvPr id="3" name="Shape 1"/>
          <p:cNvSpPr/>
          <p:nvPr/>
        </p:nvSpPr>
        <p:spPr>
          <a:xfrm>
            <a:off x="812800" y="2280920"/>
            <a:ext cx="2527300" cy="1419860"/>
          </a:xfrm>
          <a:prstGeom prst="roundRect">
            <a:avLst>
              <a:gd name="adj" fmla="val 8945"/>
            </a:avLst>
          </a:prstGeom>
          <a:solidFill>
            <a:srgbClr val="F4F6FB"/>
          </a:solidFill>
          <a:ln/>
        </p:spPr>
      </p:sp>
      <p:sp>
        <p:nvSpPr>
          <p:cNvPr id="4" name="Shape 2"/>
          <p:cNvSpPr/>
          <p:nvPr/>
        </p:nvSpPr>
        <p:spPr>
          <a:xfrm>
            <a:off x="812800" y="2280920"/>
            <a:ext cx="2527300" cy="1419860"/>
          </a:xfrm>
          <a:custGeom>
            <a:avLst/>
            <a:gdLst/>
            <a:ahLst/>
            <a:cxnLst/>
            <a:rect l="l" t="t" r="r" b="b"/>
            <a:pathLst>
              <a:path w="2527300" h="1419860">
                <a:moveTo>
                  <a:pt x="0" y="127000"/>
                </a:moveTo>
                <a:lnTo>
                  <a:pt x="0" y="127000"/>
                </a:lnTo>
                <a:arcTo wR="127000" hR="127000" stAng="10800000" swAng="5400000"/>
                <a:lnTo>
                  <a:pt x="2400300" y="0"/>
                </a:lnTo>
                <a:arcTo wR="127000" hR="127000" stAng="16200000" swAng="5400000"/>
                <a:lnTo>
                  <a:pt x="2527300" y="127000"/>
                </a:lnTo>
                <a:arcTo wR="127000" hR="76200" stAng="0" swAng="-5400000"/>
                <a:lnTo>
                  <a:pt x="127000" y="50800"/>
                </a:lnTo>
                <a:arcTo wR="127000" hR="76200" stAng="16200000" swAng="-5400000"/>
                <a:close/>
              </a:path>
            </a:pathLst>
          </a:custGeom>
          <a:solidFill>
            <a:srgbClr val="2456C9"/>
          </a:solidFill>
          <a:ln/>
        </p:spPr>
      </p:sp>
      <p:sp>
        <p:nvSpPr>
          <p:cNvPr id="5" name="Text 3"/>
          <p:cNvSpPr/>
          <p:nvPr/>
        </p:nvSpPr>
        <p:spPr>
          <a:xfrm>
            <a:off x="972066" y="2437577"/>
            <a:ext cx="2174614" cy="47834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 fontScale="62500" lnSpcReduction="20000"/>
          </a:bodyPr>
          <a:lstStyle/>
          <a:p>
            <a:pPr marL="0" indent="0" algn="ctr">
              <a:lnSpc>
                <a:spcPts val="2400"/>
              </a:lnSpc>
              <a:buNone/>
            </a:pPr>
            <a:r>
              <a:rPr lang="ru-RU" sz="2000" b="1" dirty="0" smtClean="0">
                <a:solidFill>
                  <a:srgbClr val="1D2433"/>
                </a:solidFill>
                <a:ea typeface="Nunito" pitchFamily="34" charset="-122"/>
              </a:rPr>
              <a:t>Творческая деятельность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972066" y="2833816"/>
            <a:ext cx="2248929" cy="72980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just">
              <a:lnSpc>
                <a:spcPts val="1890"/>
              </a:lnSpc>
              <a:buNone/>
            </a:pPr>
            <a:r>
              <a:rPr lang="en-US" sz="1400" dirty="0">
                <a:solidFill>
                  <a:srgbClr val="3C4558"/>
                </a:solidFill>
                <a:latin typeface="Nunito" pitchFamily="34" charset="0"/>
                <a:ea typeface="Nunito" pitchFamily="34" charset="-122"/>
                <a:cs typeface="Nunito" pitchFamily="34" charset="-120"/>
              </a:rPr>
              <a:t>Очень интересная работа на </a:t>
            </a:r>
            <a:r>
              <a:rPr lang="en-US" sz="1400" dirty="0" err="1">
                <a:solidFill>
                  <a:srgbClr val="3C4558"/>
                </a:solidFill>
                <a:latin typeface="Nunito" pitchFamily="34" charset="0"/>
                <a:ea typeface="Nunito" pitchFamily="34" charset="-122"/>
                <a:cs typeface="Nunito" pitchFamily="34" charset="-120"/>
              </a:rPr>
              <a:t>любую</a:t>
            </a:r>
            <a:r>
              <a:rPr lang="en-US" sz="1400" dirty="0">
                <a:solidFill>
                  <a:srgbClr val="3C4558"/>
                </a:solidFill>
                <a:latin typeface="Nunito" pitchFamily="34" charset="0"/>
                <a:ea typeface="Nunito" pitchFamily="34" charset="-122"/>
                <a:cs typeface="Nunito" pitchFamily="34" charset="-120"/>
              </a:rPr>
              <a:t> </a:t>
            </a:r>
            <a:r>
              <a:rPr lang="en-US" sz="1400" dirty="0" err="1" smtClean="0">
                <a:solidFill>
                  <a:srgbClr val="3C4558"/>
                </a:solidFill>
                <a:latin typeface="Nunito" pitchFamily="34" charset="0"/>
                <a:ea typeface="Nunito" pitchFamily="34" charset="-122"/>
                <a:cs typeface="Nunito" pitchFamily="34" charset="-120"/>
              </a:rPr>
              <a:t>тему</a:t>
            </a:r>
            <a:endParaRPr lang="ru-RU" sz="1400" dirty="0" smtClean="0">
              <a:solidFill>
                <a:srgbClr val="3C4558"/>
              </a:solidFill>
              <a:latin typeface="Nunito" pitchFamily="34" charset="0"/>
              <a:ea typeface="Nunito" pitchFamily="34" charset="-122"/>
              <a:cs typeface="Nunito" pitchFamily="34" charset="-120"/>
            </a:endParaRPr>
          </a:p>
          <a:p>
            <a:pPr marL="0" indent="0" algn="just">
              <a:lnSpc>
                <a:spcPts val="1890"/>
              </a:lnSpc>
              <a:buNone/>
            </a:pPr>
            <a:r>
              <a:rPr lang="ru-RU" sz="1400" dirty="0" smtClean="0">
                <a:solidFill>
                  <a:srgbClr val="3C4558"/>
                </a:solidFill>
                <a:ea typeface="Nunito" pitchFamily="34" charset="-122"/>
              </a:rPr>
              <a:t>(1 мин)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3492500" y="2280920"/>
            <a:ext cx="2527300" cy="1419860"/>
          </a:xfrm>
          <a:prstGeom prst="roundRect">
            <a:avLst>
              <a:gd name="adj" fmla="val 8945"/>
            </a:avLst>
          </a:prstGeom>
          <a:solidFill>
            <a:srgbClr val="F4F6FB"/>
          </a:solidFill>
          <a:ln/>
        </p:spPr>
      </p:sp>
      <p:sp>
        <p:nvSpPr>
          <p:cNvPr id="8" name="Shape 6"/>
          <p:cNvSpPr/>
          <p:nvPr/>
        </p:nvSpPr>
        <p:spPr>
          <a:xfrm>
            <a:off x="3492500" y="2280920"/>
            <a:ext cx="2527300" cy="1419860"/>
          </a:xfrm>
          <a:custGeom>
            <a:avLst/>
            <a:gdLst/>
            <a:ahLst/>
            <a:cxnLst/>
            <a:rect l="l" t="t" r="r" b="b"/>
            <a:pathLst>
              <a:path w="2527300" h="1419860">
                <a:moveTo>
                  <a:pt x="0" y="127000"/>
                </a:moveTo>
                <a:lnTo>
                  <a:pt x="0" y="127000"/>
                </a:lnTo>
                <a:arcTo wR="127000" hR="127000" stAng="10800000" swAng="5400000"/>
                <a:lnTo>
                  <a:pt x="2400300" y="0"/>
                </a:lnTo>
                <a:arcTo wR="127000" hR="127000" stAng="16200000" swAng="5400000"/>
                <a:lnTo>
                  <a:pt x="2527300" y="127000"/>
                </a:lnTo>
                <a:arcTo wR="127000" hR="76200" stAng="0" swAng="-5400000"/>
                <a:lnTo>
                  <a:pt x="127000" y="50800"/>
                </a:lnTo>
                <a:arcTo wR="127000" hR="76200" stAng="16200000" swAng="-5400000"/>
                <a:close/>
              </a:path>
            </a:pathLst>
          </a:custGeom>
          <a:solidFill>
            <a:srgbClr val="2456C9"/>
          </a:solidFill>
          <a:ln/>
        </p:spPr>
      </p:sp>
      <p:sp>
        <p:nvSpPr>
          <p:cNvPr id="9" name="Text 7"/>
          <p:cNvSpPr/>
          <p:nvPr/>
        </p:nvSpPr>
        <p:spPr>
          <a:xfrm>
            <a:off x="3746500" y="2585720"/>
            <a:ext cx="2079879" cy="3302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ctr">
              <a:lnSpc>
                <a:spcPts val="2400"/>
              </a:lnSpc>
              <a:buNone/>
            </a:pPr>
            <a:r>
              <a:rPr lang="en-US" sz="2000" b="1" dirty="0">
                <a:solidFill>
                  <a:srgbClr val="1D2433"/>
                </a:solidFill>
                <a:latin typeface="Nunito" pitchFamily="34" charset="0"/>
                <a:ea typeface="Nunito" pitchFamily="34" charset="-122"/>
                <a:cs typeface="Nunito" pitchFamily="34" charset="-120"/>
              </a:rPr>
              <a:t>Программа</a:t>
            </a:r>
            <a:endParaRPr lang="en-US" sz="2000" dirty="0"/>
          </a:p>
        </p:txBody>
      </p:sp>
      <p:sp>
        <p:nvSpPr>
          <p:cNvPr id="10" name="Text 8"/>
          <p:cNvSpPr/>
          <p:nvPr/>
        </p:nvSpPr>
        <p:spPr>
          <a:xfrm>
            <a:off x="3746500" y="2966720"/>
            <a:ext cx="2079879" cy="5054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just">
              <a:lnSpc>
                <a:spcPts val="1890"/>
              </a:lnSpc>
              <a:buNone/>
            </a:pPr>
            <a:r>
              <a:rPr lang="en-US" sz="1400" dirty="0">
                <a:solidFill>
                  <a:srgbClr val="3C4558"/>
                </a:solidFill>
                <a:latin typeface="Nunito" pitchFamily="34" charset="0"/>
                <a:ea typeface="Nunito" pitchFamily="34" charset="-122"/>
                <a:cs typeface="Nunito" pitchFamily="34" charset="-120"/>
              </a:rPr>
              <a:t>Игра, сайт или </a:t>
            </a:r>
            <a:r>
              <a:rPr lang="en-US" sz="1400" dirty="0" err="1">
                <a:solidFill>
                  <a:srgbClr val="3C4558"/>
                </a:solidFill>
                <a:latin typeface="Nunito" pitchFamily="34" charset="0"/>
                <a:ea typeface="Nunito" pitchFamily="34" charset="-122"/>
                <a:cs typeface="Nunito" pitchFamily="34" charset="-120"/>
              </a:rPr>
              <a:t>полезное</a:t>
            </a:r>
            <a:r>
              <a:rPr lang="en-US" sz="1400" dirty="0">
                <a:solidFill>
                  <a:srgbClr val="3C4558"/>
                </a:solidFill>
                <a:latin typeface="Nunito" pitchFamily="34" charset="0"/>
                <a:ea typeface="Nunito" pitchFamily="34" charset="-122"/>
                <a:cs typeface="Nunito" pitchFamily="34" charset="-120"/>
              </a:rPr>
              <a:t> </a:t>
            </a:r>
            <a:r>
              <a:rPr lang="en-US" sz="1400" dirty="0" err="1" smtClean="0">
                <a:solidFill>
                  <a:srgbClr val="3C4558"/>
                </a:solidFill>
                <a:latin typeface="Nunito" pitchFamily="34" charset="0"/>
                <a:ea typeface="Nunito" pitchFamily="34" charset="-122"/>
                <a:cs typeface="Nunito" pitchFamily="34" charset="-120"/>
              </a:rPr>
              <a:t>приложение</a:t>
            </a:r>
            <a:r>
              <a:rPr lang="en-US" sz="1400" dirty="0" smtClean="0">
                <a:solidFill>
                  <a:srgbClr val="3C4558"/>
                </a:solidFill>
                <a:latin typeface="Nunito" pitchFamily="34" charset="0"/>
                <a:ea typeface="Nunito" pitchFamily="34" charset="-122"/>
                <a:cs typeface="Nunito" pitchFamily="34" charset="-120"/>
              </a:rPr>
              <a:t> (</a:t>
            </a:r>
            <a:r>
              <a:rPr lang="ru-RU" sz="1400" dirty="0" smtClean="0">
                <a:solidFill>
                  <a:srgbClr val="3C4558"/>
                </a:solidFill>
                <a:latin typeface="Nunito" pitchFamily="34" charset="0"/>
                <a:ea typeface="Nunito" pitchFamily="34" charset="-122"/>
                <a:cs typeface="Nunito" pitchFamily="34" charset="-120"/>
              </a:rPr>
              <a:t>5 мин)</a:t>
            </a:r>
            <a:endParaRPr lang="en-US" sz="1400" dirty="0"/>
          </a:p>
        </p:txBody>
      </p:sp>
      <p:sp>
        <p:nvSpPr>
          <p:cNvPr id="11" name="Shape 9"/>
          <p:cNvSpPr/>
          <p:nvPr/>
        </p:nvSpPr>
        <p:spPr>
          <a:xfrm>
            <a:off x="6172200" y="2280920"/>
            <a:ext cx="2527300" cy="1419860"/>
          </a:xfrm>
          <a:prstGeom prst="roundRect">
            <a:avLst>
              <a:gd name="adj" fmla="val 8945"/>
            </a:avLst>
          </a:prstGeom>
          <a:solidFill>
            <a:srgbClr val="F4F6FB"/>
          </a:solidFill>
          <a:ln/>
        </p:spPr>
      </p:sp>
      <p:sp>
        <p:nvSpPr>
          <p:cNvPr id="12" name="Shape 10"/>
          <p:cNvSpPr/>
          <p:nvPr/>
        </p:nvSpPr>
        <p:spPr>
          <a:xfrm>
            <a:off x="6172200" y="2280920"/>
            <a:ext cx="2527300" cy="1419860"/>
          </a:xfrm>
          <a:custGeom>
            <a:avLst/>
            <a:gdLst/>
            <a:ahLst/>
            <a:cxnLst/>
            <a:rect l="l" t="t" r="r" b="b"/>
            <a:pathLst>
              <a:path w="2527300" h="1419860">
                <a:moveTo>
                  <a:pt x="0" y="127000"/>
                </a:moveTo>
                <a:lnTo>
                  <a:pt x="0" y="127000"/>
                </a:lnTo>
                <a:arcTo wR="127000" hR="127000" stAng="10800000" swAng="5400000"/>
                <a:lnTo>
                  <a:pt x="2400300" y="0"/>
                </a:lnTo>
                <a:arcTo wR="127000" hR="127000" stAng="16200000" swAng="5400000"/>
                <a:lnTo>
                  <a:pt x="2527300" y="127000"/>
                </a:lnTo>
                <a:arcTo wR="127000" hR="76200" stAng="0" swAng="-5400000"/>
                <a:lnTo>
                  <a:pt x="127000" y="50800"/>
                </a:lnTo>
                <a:arcTo wR="127000" hR="76200" stAng="16200000" swAng="-5400000"/>
                <a:close/>
              </a:path>
            </a:pathLst>
          </a:custGeom>
          <a:solidFill>
            <a:srgbClr val="2456C9"/>
          </a:solidFill>
          <a:ln/>
        </p:spPr>
      </p:sp>
      <p:sp>
        <p:nvSpPr>
          <p:cNvPr id="13" name="Text 11"/>
          <p:cNvSpPr/>
          <p:nvPr/>
        </p:nvSpPr>
        <p:spPr>
          <a:xfrm>
            <a:off x="6426200" y="2585720"/>
            <a:ext cx="2079879" cy="3302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ctr">
              <a:lnSpc>
                <a:spcPts val="2400"/>
              </a:lnSpc>
              <a:buNone/>
            </a:pPr>
            <a:r>
              <a:rPr lang="en-US" sz="2000" b="1" dirty="0">
                <a:solidFill>
                  <a:srgbClr val="1D2433"/>
                </a:solidFill>
                <a:latin typeface="Nunito" pitchFamily="34" charset="0"/>
                <a:ea typeface="Nunito" pitchFamily="34" charset="-122"/>
                <a:cs typeface="Nunito" pitchFamily="34" charset="-120"/>
              </a:rPr>
              <a:t>Рассказ</a:t>
            </a:r>
            <a:endParaRPr lang="en-US" sz="2000" dirty="0"/>
          </a:p>
        </p:txBody>
      </p:sp>
      <p:sp>
        <p:nvSpPr>
          <p:cNvPr id="14" name="Text 12"/>
          <p:cNvSpPr/>
          <p:nvPr/>
        </p:nvSpPr>
        <p:spPr>
          <a:xfrm>
            <a:off x="6426200" y="2966720"/>
            <a:ext cx="2079879" cy="5054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just">
              <a:lnSpc>
                <a:spcPts val="1890"/>
              </a:lnSpc>
              <a:buNone/>
            </a:pPr>
            <a:r>
              <a:rPr lang="en-US" sz="1400" dirty="0">
                <a:solidFill>
                  <a:srgbClr val="3C4558"/>
                </a:solidFill>
                <a:latin typeface="Nunito" pitchFamily="34" charset="0"/>
                <a:ea typeface="Nunito" pitchFamily="34" charset="-122"/>
                <a:cs typeface="Nunito" pitchFamily="34" charset="-120"/>
              </a:rPr>
              <a:t>Своя история, сказка </a:t>
            </a:r>
            <a:r>
              <a:rPr lang="en-US" sz="1400" dirty="0" err="1">
                <a:solidFill>
                  <a:srgbClr val="3C4558"/>
                </a:solidFill>
                <a:latin typeface="Nunito" pitchFamily="34" charset="0"/>
                <a:ea typeface="Nunito" pitchFamily="34" charset="-122"/>
                <a:cs typeface="Nunito" pitchFamily="34" charset="-120"/>
              </a:rPr>
              <a:t>или</a:t>
            </a:r>
            <a:r>
              <a:rPr lang="en-US" sz="1400" dirty="0">
                <a:solidFill>
                  <a:srgbClr val="3C4558"/>
                </a:solidFill>
                <a:latin typeface="Nunito" pitchFamily="34" charset="0"/>
                <a:ea typeface="Nunito" pitchFamily="34" charset="-122"/>
                <a:cs typeface="Nunito" pitchFamily="34" charset="-120"/>
              </a:rPr>
              <a:t> </a:t>
            </a:r>
            <a:r>
              <a:rPr lang="en-US" sz="1400" dirty="0" err="1" smtClean="0">
                <a:solidFill>
                  <a:srgbClr val="3C4558"/>
                </a:solidFill>
                <a:latin typeface="Nunito" pitchFamily="34" charset="0"/>
                <a:ea typeface="Nunito" pitchFamily="34" charset="-122"/>
                <a:cs typeface="Nunito" pitchFamily="34" charset="-120"/>
              </a:rPr>
              <a:t>стихи</a:t>
            </a:r>
            <a:r>
              <a:rPr lang="ru-RU" sz="1400" dirty="0" smtClean="0">
                <a:solidFill>
                  <a:srgbClr val="3C4558"/>
                </a:solidFill>
                <a:latin typeface="Nunito" pitchFamily="34" charset="0"/>
                <a:ea typeface="Nunito" pitchFamily="34" charset="-122"/>
                <a:cs typeface="Nunito" pitchFamily="34" charset="-120"/>
              </a:rPr>
              <a:t> (2 мин)</a:t>
            </a:r>
            <a:endParaRPr lang="en-US" sz="1400" dirty="0"/>
          </a:p>
        </p:txBody>
      </p:sp>
      <p:sp>
        <p:nvSpPr>
          <p:cNvPr id="15" name="Shape 13"/>
          <p:cNvSpPr/>
          <p:nvPr/>
        </p:nvSpPr>
        <p:spPr>
          <a:xfrm>
            <a:off x="8864257" y="2306320"/>
            <a:ext cx="2527300" cy="1419860"/>
          </a:xfrm>
          <a:prstGeom prst="roundRect">
            <a:avLst>
              <a:gd name="adj" fmla="val 8945"/>
            </a:avLst>
          </a:prstGeom>
          <a:solidFill>
            <a:srgbClr val="F4F6FB"/>
          </a:solidFill>
          <a:ln/>
        </p:spPr>
      </p:sp>
      <p:sp>
        <p:nvSpPr>
          <p:cNvPr id="16" name="Shape 14"/>
          <p:cNvSpPr/>
          <p:nvPr/>
        </p:nvSpPr>
        <p:spPr>
          <a:xfrm>
            <a:off x="8851900" y="2280920"/>
            <a:ext cx="2527300" cy="1419860"/>
          </a:xfrm>
          <a:custGeom>
            <a:avLst/>
            <a:gdLst/>
            <a:ahLst/>
            <a:cxnLst/>
            <a:rect l="l" t="t" r="r" b="b"/>
            <a:pathLst>
              <a:path w="2527300" h="1419860">
                <a:moveTo>
                  <a:pt x="0" y="127000"/>
                </a:moveTo>
                <a:lnTo>
                  <a:pt x="0" y="127000"/>
                </a:lnTo>
                <a:arcTo wR="127000" hR="127000" stAng="10800000" swAng="5400000"/>
                <a:lnTo>
                  <a:pt x="2400300" y="0"/>
                </a:lnTo>
                <a:arcTo wR="127000" hR="127000" stAng="16200000" swAng="5400000"/>
                <a:lnTo>
                  <a:pt x="2527300" y="127000"/>
                </a:lnTo>
                <a:arcTo wR="127000" hR="76200" stAng="0" swAng="-5400000"/>
                <a:lnTo>
                  <a:pt x="127000" y="50800"/>
                </a:lnTo>
                <a:arcTo wR="127000" hR="76200" stAng="16200000" swAng="-5400000"/>
                <a:close/>
              </a:path>
            </a:pathLst>
          </a:custGeom>
          <a:solidFill>
            <a:srgbClr val="E9A62A"/>
          </a:solidFill>
          <a:ln/>
        </p:spPr>
      </p:sp>
      <p:sp>
        <p:nvSpPr>
          <p:cNvPr id="17" name="Text 15"/>
          <p:cNvSpPr/>
          <p:nvPr/>
        </p:nvSpPr>
        <p:spPr>
          <a:xfrm>
            <a:off x="8953500" y="2306320"/>
            <a:ext cx="2348814" cy="60960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ctr">
              <a:lnSpc>
                <a:spcPts val="2400"/>
              </a:lnSpc>
              <a:buNone/>
            </a:pPr>
            <a:r>
              <a:rPr lang="ru-RU" sz="1600" b="1" dirty="0" smtClean="0">
                <a:solidFill>
                  <a:srgbClr val="1D2433"/>
                </a:solidFill>
                <a:ea typeface="Nunito" pitchFamily="34" charset="-122"/>
              </a:rPr>
              <a:t>Исследовательская деятельность</a:t>
            </a:r>
            <a:endParaRPr lang="en-US" sz="1600" dirty="0"/>
          </a:p>
        </p:txBody>
      </p:sp>
      <p:sp>
        <p:nvSpPr>
          <p:cNvPr id="18" name="Text 16"/>
          <p:cNvSpPr/>
          <p:nvPr/>
        </p:nvSpPr>
        <p:spPr>
          <a:xfrm>
            <a:off x="9105900" y="2915920"/>
            <a:ext cx="2079879" cy="72520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890"/>
              </a:lnSpc>
              <a:buNone/>
            </a:pPr>
            <a:endParaRPr lang="en-US" sz="1400" dirty="0"/>
          </a:p>
        </p:txBody>
      </p:sp>
      <p:sp>
        <p:nvSpPr>
          <p:cNvPr id="19" name="Shape 17"/>
          <p:cNvSpPr/>
          <p:nvPr/>
        </p:nvSpPr>
        <p:spPr>
          <a:xfrm>
            <a:off x="812800" y="4665980"/>
            <a:ext cx="10566400" cy="1176020"/>
          </a:xfrm>
          <a:prstGeom prst="roundRect">
            <a:avLst>
              <a:gd name="adj" fmla="val 10799"/>
            </a:avLst>
          </a:prstGeom>
          <a:solidFill>
            <a:srgbClr val="FFF6E0"/>
          </a:solidFill>
          <a:ln/>
        </p:spPr>
      </p:sp>
      <p:sp>
        <p:nvSpPr>
          <p:cNvPr id="20" name="Text 18"/>
          <p:cNvSpPr/>
          <p:nvPr/>
        </p:nvSpPr>
        <p:spPr>
          <a:xfrm>
            <a:off x="1117600" y="4919980"/>
            <a:ext cx="10255504" cy="3175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2300"/>
              </a:lnSpc>
              <a:buNone/>
            </a:pPr>
            <a:r>
              <a:rPr lang="en-US" sz="2000" b="1" dirty="0">
                <a:solidFill>
                  <a:srgbClr val="1D2433"/>
                </a:solidFill>
                <a:latin typeface="Nunito" pitchFamily="34" charset="0"/>
                <a:ea typeface="Nunito" pitchFamily="34" charset="-122"/>
                <a:cs typeface="Nunito" pitchFamily="34" charset="-120"/>
              </a:rPr>
              <a:t>Всё решает учитель</a:t>
            </a:r>
            <a:endParaRPr lang="en-US" sz="2000" dirty="0"/>
          </a:p>
        </p:txBody>
      </p:sp>
      <p:sp>
        <p:nvSpPr>
          <p:cNvPr id="21" name="Text 19"/>
          <p:cNvSpPr/>
          <p:nvPr/>
        </p:nvSpPr>
        <p:spPr>
          <a:xfrm>
            <a:off x="1117600" y="5313680"/>
            <a:ext cx="10261600" cy="299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2160"/>
              </a:lnSpc>
              <a:buNone/>
            </a:pPr>
            <a:r>
              <a:rPr lang="en-US" sz="1600" dirty="0">
                <a:solidFill>
                  <a:srgbClr val="3C4558"/>
                </a:solidFill>
                <a:latin typeface="Nunito" pitchFamily="34" charset="0"/>
                <a:ea typeface="Nunito" pitchFamily="34" charset="-122"/>
                <a:cs typeface="Nunito" pitchFamily="34" charset="-120"/>
              </a:rPr>
              <a:t>Покажи работу учителю. Он решает, засчитать ли её как проект и </a:t>
            </a:r>
            <a:r>
              <a:rPr lang="en-US" sz="1600" b="1" dirty="0">
                <a:solidFill>
                  <a:srgbClr val="3C4558"/>
                </a:solidFill>
                <a:latin typeface="Nunito" pitchFamily="34" charset="0"/>
                <a:ea typeface="Nunito" pitchFamily="34" charset="-122"/>
                <a:cs typeface="Nunito" pitchFamily="34" charset="-120"/>
              </a:rPr>
              <a:t>сколько минуток за неё начислить</a:t>
            </a:r>
            <a:r>
              <a:rPr lang="en-US" sz="1600" dirty="0">
                <a:solidFill>
                  <a:srgbClr val="3C4558"/>
                </a:solidFill>
                <a:latin typeface="Nunito" pitchFamily="34" charset="0"/>
                <a:ea typeface="Nunito" pitchFamily="34" charset="-122"/>
                <a:cs typeface="Nunito" pitchFamily="34" charset="-120"/>
              </a:rPr>
              <a:t>.</a:t>
            </a:r>
            <a:endParaRPr lang="en-US" sz="1600" dirty="0"/>
          </a:p>
        </p:txBody>
      </p:sp>
      <p:sp>
        <p:nvSpPr>
          <p:cNvPr id="22" name="Text 20"/>
          <p:cNvSpPr/>
          <p:nvPr/>
        </p:nvSpPr>
        <p:spPr>
          <a:xfrm>
            <a:off x="812800" y="6238239"/>
            <a:ext cx="7848600" cy="238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680"/>
              </a:lnSpc>
              <a:buNone/>
            </a:pPr>
            <a:r>
              <a:rPr lang="en-US" sz="1200" dirty="0">
                <a:solidFill>
                  <a:srgbClr val="5B6475"/>
                </a:solidFill>
                <a:latin typeface="Nunito" pitchFamily="34" charset="0"/>
                <a:ea typeface="Nunito" pitchFamily="34" charset="-122"/>
                <a:cs typeface="Nunito" pitchFamily="34" charset="-120"/>
              </a:rPr>
              <a:t>ЧОУ СОШ «Поколение» · Минутки</a:t>
            </a:r>
            <a:endParaRPr lang="en-US" sz="1200" dirty="0"/>
          </a:p>
        </p:txBody>
      </p:sp>
      <p:sp>
        <p:nvSpPr>
          <p:cNvPr id="23" name="Text 21"/>
          <p:cNvSpPr/>
          <p:nvPr/>
        </p:nvSpPr>
        <p:spPr>
          <a:xfrm>
            <a:off x="10058400" y="6238239"/>
            <a:ext cx="1320800" cy="238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r">
              <a:lnSpc>
                <a:spcPts val="1680"/>
              </a:lnSpc>
              <a:buNone/>
            </a:pPr>
            <a:r>
              <a:rPr lang="en-US" sz="1200" dirty="0">
                <a:solidFill>
                  <a:srgbClr val="5B6475"/>
                </a:solidFill>
                <a:latin typeface="Nunito" pitchFamily="34" charset="0"/>
                <a:ea typeface="Nunito" pitchFamily="34" charset="-122"/>
                <a:cs typeface="Nunito" pitchFamily="34" charset="-120"/>
              </a:rPr>
              <a:t>4</a:t>
            </a:r>
            <a:endParaRPr lang="en-US" sz="1200" dirty="0"/>
          </a:p>
        </p:txBody>
      </p:sp>
      <p:sp>
        <p:nvSpPr>
          <p:cNvPr id="24" name="Прямоугольник 23"/>
          <p:cNvSpPr/>
          <p:nvPr/>
        </p:nvSpPr>
        <p:spPr>
          <a:xfrm>
            <a:off x="8941143" y="2890520"/>
            <a:ext cx="2348814" cy="461665"/>
          </a:xfrm>
          <a:prstGeom prst="rect">
            <a:avLst/>
          </a:prstGeom>
          <a:noFill/>
        </p:spPr>
        <p:txBody>
          <a:bodyPr wrap="square" lIns="91440" tIns="45720" rIns="91440" bIns="45720">
            <a:spAutoFit/>
          </a:bodyPr>
          <a:lstStyle/>
          <a:p>
            <a:pPr algn="just"/>
            <a:r>
              <a:rPr lang="ru-RU" sz="1200" b="0" cap="none" spc="0" dirty="0" smtClean="0">
                <a:ln w="0"/>
                <a:solidFill>
                  <a:schemeClr val="tx1"/>
                </a:solidFill>
              </a:rPr>
              <a:t>Проведение исследования на интересующую тему (3 мин)</a:t>
            </a:r>
            <a:endParaRPr lang="ru-RU" sz="1200" b="0" cap="none" spc="0" dirty="0">
              <a:ln w="0"/>
              <a:solidFill>
                <a:schemeClr val="tx1"/>
              </a:solidFill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title"/>
          </p:nvPr>
        </p:nvSpPr>
        <p:spPr>
          <a:xfrm>
            <a:off x="812800" y="812800"/>
            <a:ext cx="10883392" cy="5283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3960"/>
              </a:lnSpc>
              <a:buNone/>
            </a:pPr>
            <a:r>
              <a:rPr lang="en-US" sz="3600" b="1" i="0" dirty="0">
                <a:solidFill>
                  <a:srgbClr val="1D2433"/>
                </a:solidFill>
                <a:latin typeface="Nunito" pitchFamily="34" charset="0"/>
                <a:ea typeface="Nunito" pitchFamily="34" charset="-122"/>
                <a:cs typeface="Nunito" pitchFamily="34" charset="-120"/>
              </a:rPr>
              <a:t>Как это работает</a:t>
            </a:r>
            <a:endParaRPr lang="en-US" sz="3600" dirty="0"/>
          </a:p>
        </p:txBody>
      </p:sp>
      <p:sp>
        <p:nvSpPr>
          <p:cNvPr id="3" name="Shape 1"/>
          <p:cNvSpPr/>
          <p:nvPr/>
        </p:nvSpPr>
        <p:spPr>
          <a:xfrm>
            <a:off x="812800" y="2402205"/>
            <a:ext cx="3014133" cy="2071370"/>
          </a:xfrm>
          <a:prstGeom prst="roundRect">
            <a:avLst>
              <a:gd name="adj" fmla="val 6131"/>
            </a:avLst>
          </a:prstGeom>
          <a:solidFill>
            <a:srgbClr val="F4F6FB"/>
          </a:solidFill>
          <a:ln/>
        </p:spPr>
      </p:sp>
      <p:sp>
        <p:nvSpPr>
          <p:cNvPr id="4" name="Text 2"/>
          <p:cNvSpPr/>
          <p:nvPr/>
        </p:nvSpPr>
        <p:spPr>
          <a:xfrm>
            <a:off x="1117600" y="2707005"/>
            <a:ext cx="2476669" cy="4826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3600"/>
              </a:lnSpc>
              <a:buNone/>
            </a:pPr>
            <a:r>
              <a:rPr lang="en-US" sz="3600" b="1" dirty="0">
                <a:solidFill>
                  <a:srgbClr val="2456C9"/>
                </a:solidFill>
                <a:latin typeface="Nunito" pitchFamily="34" charset="0"/>
                <a:ea typeface="Nunito" pitchFamily="34" charset="-122"/>
                <a:cs typeface="Nunito" pitchFamily="34" charset="-120"/>
              </a:rPr>
              <a:t>1</a:t>
            </a:r>
            <a:endParaRPr lang="en-US" sz="3600" dirty="0"/>
          </a:p>
        </p:txBody>
      </p:sp>
      <p:sp>
        <p:nvSpPr>
          <p:cNvPr id="5" name="Text 3"/>
          <p:cNvSpPr/>
          <p:nvPr/>
        </p:nvSpPr>
        <p:spPr>
          <a:xfrm>
            <a:off x="1117600" y="3265805"/>
            <a:ext cx="2476669" cy="34671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2530"/>
              </a:lnSpc>
              <a:buNone/>
            </a:pPr>
            <a:r>
              <a:rPr lang="en-US" sz="2200" b="1" dirty="0">
                <a:solidFill>
                  <a:srgbClr val="1D2433"/>
                </a:solidFill>
                <a:latin typeface="Nunito" pitchFamily="34" charset="0"/>
                <a:ea typeface="Nunito" pitchFamily="34" charset="-122"/>
                <a:cs typeface="Nunito" pitchFamily="34" charset="-120"/>
              </a:rPr>
              <a:t>Сделай дело</a:t>
            </a:r>
            <a:endParaRPr lang="en-US" sz="2200" dirty="0"/>
          </a:p>
        </p:txBody>
      </p:sp>
      <p:sp>
        <p:nvSpPr>
          <p:cNvPr id="6" name="Text 4"/>
          <p:cNvSpPr/>
          <p:nvPr/>
        </p:nvSpPr>
        <p:spPr>
          <a:xfrm>
            <a:off x="1117600" y="3688716"/>
            <a:ext cx="2476669" cy="5054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890"/>
              </a:lnSpc>
              <a:buNone/>
            </a:pPr>
            <a:r>
              <a:rPr lang="en-US" sz="1400" dirty="0">
                <a:solidFill>
                  <a:srgbClr val="3C4558"/>
                </a:solidFill>
                <a:latin typeface="Nunito" pitchFamily="34" charset="0"/>
                <a:ea typeface="Nunito" pitchFamily="34" charset="-122"/>
                <a:cs typeface="Nunito" pitchFamily="34" charset="-120"/>
              </a:rPr>
              <a:t>Организуй, помоги, выиграй квиз или создай проект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3979333" y="3117851"/>
            <a:ext cx="548640" cy="6654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5040"/>
              </a:lnSpc>
              <a:buNone/>
            </a:pPr>
            <a:r>
              <a:rPr lang="en-US" sz="3600" b="1" dirty="0">
                <a:solidFill>
                  <a:srgbClr val="E9A62A"/>
                </a:solidFill>
                <a:latin typeface="Nunito" pitchFamily="34" charset="0"/>
                <a:ea typeface="Nunito" pitchFamily="34" charset="-122"/>
                <a:cs typeface="Nunito" pitchFamily="34" charset="-120"/>
              </a:rPr>
              <a:t>→</a:t>
            </a:r>
            <a:endParaRPr lang="en-US" sz="3600" dirty="0"/>
          </a:p>
        </p:txBody>
      </p:sp>
      <p:sp>
        <p:nvSpPr>
          <p:cNvPr id="8" name="Shape 6"/>
          <p:cNvSpPr/>
          <p:nvPr/>
        </p:nvSpPr>
        <p:spPr>
          <a:xfrm>
            <a:off x="4588933" y="2402205"/>
            <a:ext cx="3014133" cy="2071370"/>
          </a:xfrm>
          <a:prstGeom prst="roundRect">
            <a:avLst>
              <a:gd name="adj" fmla="val 6131"/>
            </a:avLst>
          </a:prstGeom>
          <a:solidFill>
            <a:srgbClr val="F4F6FB"/>
          </a:solidFill>
          <a:ln/>
        </p:spPr>
      </p:sp>
      <p:sp>
        <p:nvSpPr>
          <p:cNvPr id="9" name="Text 7"/>
          <p:cNvSpPr/>
          <p:nvPr/>
        </p:nvSpPr>
        <p:spPr>
          <a:xfrm>
            <a:off x="4893733" y="2707005"/>
            <a:ext cx="2476669" cy="4826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3600"/>
              </a:lnSpc>
              <a:buNone/>
            </a:pPr>
            <a:r>
              <a:rPr lang="en-US" sz="3600" b="1" dirty="0">
                <a:solidFill>
                  <a:srgbClr val="2456C9"/>
                </a:solidFill>
                <a:latin typeface="Nunito" pitchFamily="34" charset="0"/>
                <a:ea typeface="Nunito" pitchFamily="34" charset="-122"/>
                <a:cs typeface="Nunito" pitchFamily="34" charset="-120"/>
              </a:rPr>
              <a:t>2</a:t>
            </a:r>
            <a:endParaRPr lang="en-US" sz="3600" dirty="0"/>
          </a:p>
        </p:txBody>
      </p:sp>
      <p:sp>
        <p:nvSpPr>
          <p:cNvPr id="10" name="Text 8"/>
          <p:cNvSpPr/>
          <p:nvPr/>
        </p:nvSpPr>
        <p:spPr>
          <a:xfrm>
            <a:off x="4893733" y="3265805"/>
            <a:ext cx="2476669" cy="34671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2530"/>
              </a:lnSpc>
              <a:buNone/>
            </a:pPr>
            <a:r>
              <a:rPr lang="en-US" sz="2200" b="1" dirty="0">
                <a:solidFill>
                  <a:srgbClr val="1D2433"/>
                </a:solidFill>
                <a:latin typeface="Nunito" pitchFamily="34" charset="0"/>
                <a:ea typeface="Nunito" pitchFamily="34" charset="-122"/>
                <a:cs typeface="Nunito" pitchFamily="34" charset="-120"/>
              </a:rPr>
              <a:t>Получи минутки</a:t>
            </a:r>
            <a:endParaRPr lang="en-US" sz="2200" dirty="0"/>
          </a:p>
        </p:txBody>
      </p:sp>
      <p:sp>
        <p:nvSpPr>
          <p:cNvPr id="11" name="Text 9"/>
          <p:cNvSpPr/>
          <p:nvPr/>
        </p:nvSpPr>
        <p:spPr>
          <a:xfrm>
            <a:off x="4893733" y="3688716"/>
            <a:ext cx="2476669" cy="5054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890"/>
              </a:lnSpc>
              <a:buNone/>
            </a:pPr>
            <a:r>
              <a:rPr lang="en-US" sz="1400" dirty="0">
                <a:solidFill>
                  <a:srgbClr val="3C4558"/>
                </a:solidFill>
                <a:latin typeface="Nunito" pitchFamily="34" charset="0"/>
                <a:ea typeface="Nunito" pitchFamily="34" charset="-122"/>
                <a:cs typeface="Nunito" pitchFamily="34" charset="-120"/>
              </a:rPr>
              <a:t>Минутки начисляют за твой вклад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7755467" y="3117851"/>
            <a:ext cx="548640" cy="6654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5040"/>
              </a:lnSpc>
              <a:buNone/>
            </a:pPr>
            <a:r>
              <a:rPr lang="en-US" sz="3600" b="1" dirty="0">
                <a:solidFill>
                  <a:srgbClr val="E9A62A"/>
                </a:solidFill>
                <a:latin typeface="Nunito" pitchFamily="34" charset="0"/>
                <a:ea typeface="Nunito" pitchFamily="34" charset="-122"/>
                <a:cs typeface="Nunito" pitchFamily="34" charset="-120"/>
              </a:rPr>
              <a:t>→</a:t>
            </a:r>
            <a:endParaRPr lang="en-US" sz="3600" dirty="0"/>
          </a:p>
        </p:txBody>
      </p:sp>
      <p:sp>
        <p:nvSpPr>
          <p:cNvPr id="13" name="Shape 11"/>
          <p:cNvSpPr/>
          <p:nvPr/>
        </p:nvSpPr>
        <p:spPr>
          <a:xfrm>
            <a:off x="8365067" y="2241551"/>
            <a:ext cx="3014133" cy="2392680"/>
          </a:xfrm>
          <a:prstGeom prst="roundRect">
            <a:avLst>
              <a:gd name="adj" fmla="val 5308"/>
            </a:avLst>
          </a:prstGeom>
          <a:solidFill>
            <a:srgbClr val="F4F6FB"/>
          </a:solidFill>
          <a:ln/>
        </p:spPr>
      </p:sp>
      <p:sp>
        <p:nvSpPr>
          <p:cNvPr id="14" name="Text 12"/>
          <p:cNvSpPr/>
          <p:nvPr/>
        </p:nvSpPr>
        <p:spPr>
          <a:xfrm>
            <a:off x="8669867" y="2546351"/>
            <a:ext cx="2476669" cy="4826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3600"/>
              </a:lnSpc>
              <a:buNone/>
            </a:pPr>
            <a:r>
              <a:rPr lang="en-US" sz="3600" b="1" dirty="0">
                <a:solidFill>
                  <a:srgbClr val="2456C9"/>
                </a:solidFill>
                <a:latin typeface="Nunito" pitchFamily="34" charset="0"/>
                <a:ea typeface="Nunito" pitchFamily="34" charset="-122"/>
                <a:cs typeface="Nunito" pitchFamily="34" charset="-120"/>
              </a:rPr>
              <a:t>3</a:t>
            </a:r>
            <a:endParaRPr lang="en-US" sz="3600" dirty="0"/>
          </a:p>
        </p:txBody>
      </p:sp>
      <p:sp>
        <p:nvSpPr>
          <p:cNvPr id="15" name="Text 13"/>
          <p:cNvSpPr/>
          <p:nvPr/>
        </p:nvSpPr>
        <p:spPr>
          <a:xfrm>
            <a:off x="8669867" y="3105151"/>
            <a:ext cx="2476669" cy="6680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2530"/>
              </a:lnSpc>
              <a:buNone/>
            </a:pPr>
            <a:r>
              <a:rPr lang="en-US" sz="2200" b="1" dirty="0">
                <a:solidFill>
                  <a:srgbClr val="1D2433"/>
                </a:solidFill>
                <a:latin typeface="Nunito" pitchFamily="34" charset="0"/>
                <a:ea typeface="Nunito" pitchFamily="34" charset="-122"/>
                <a:cs typeface="Nunito" pitchFamily="34" charset="-120"/>
              </a:rPr>
              <a:t>Потрать в буфете</a:t>
            </a:r>
            <a:endParaRPr lang="en-US" sz="2200" dirty="0"/>
          </a:p>
        </p:txBody>
      </p:sp>
      <p:sp>
        <p:nvSpPr>
          <p:cNvPr id="16" name="Text 14"/>
          <p:cNvSpPr/>
          <p:nvPr/>
        </p:nvSpPr>
        <p:spPr>
          <a:xfrm>
            <a:off x="8669867" y="3849369"/>
            <a:ext cx="2476669" cy="5054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890"/>
              </a:lnSpc>
              <a:buNone/>
            </a:pPr>
            <a:r>
              <a:rPr lang="en-US" sz="1400" dirty="0">
                <a:solidFill>
                  <a:srgbClr val="3C4558"/>
                </a:solidFill>
                <a:latin typeface="Nunito" pitchFamily="34" charset="0"/>
                <a:ea typeface="Nunito" pitchFamily="34" charset="-122"/>
                <a:cs typeface="Nunito" pitchFamily="34" charset="-120"/>
              </a:rPr>
              <a:t>Расплачивайся минутками вместо рублей</a:t>
            </a:r>
            <a:endParaRPr lang="en-US" sz="1400" dirty="0"/>
          </a:p>
        </p:txBody>
      </p:sp>
      <p:sp>
        <p:nvSpPr>
          <p:cNvPr id="17" name="Text 15"/>
          <p:cNvSpPr/>
          <p:nvPr/>
        </p:nvSpPr>
        <p:spPr>
          <a:xfrm>
            <a:off x="812800" y="6238239"/>
            <a:ext cx="7848600" cy="238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680"/>
              </a:lnSpc>
              <a:buNone/>
            </a:pPr>
            <a:r>
              <a:rPr lang="en-US" sz="1200" dirty="0">
                <a:solidFill>
                  <a:srgbClr val="5B6475"/>
                </a:solidFill>
                <a:latin typeface="Nunito" pitchFamily="34" charset="0"/>
                <a:ea typeface="Nunito" pitchFamily="34" charset="-122"/>
                <a:cs typeface="Nunito" pitchFamily="34" charset="-120"/>
              </a:rPr>
              <a:t>ЧОУ СОШ «Поколение» · Минутки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10058400" y="6238239"/>
            <a:ext cx="1320800" cy="238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r">
              <a:lnSpc>
                <a:spcPts val="1680"/>
              </a:lnSpc>
              <a:buNone/>
            </a:pPr>
            <a:r>
              <a:rPr lang="en-US" sz="1200" dirty="0">
                <a:solidFill>
                  <a:srgbClr val="5B6475"/>
                </a:solidFill>
                <a:latin typeface="Nunito" pitchFamily="34" charset="0"/>
                <a:ea typeface="Nunito" pitchFamily="34" charset="-122"/>
                <a:cs typeface="Nunito" pitchFamily="34" charset="-120"/>
              </a:rPr>
              <a:t>5</a:t>
            </a:r>
            <a:endParaRPr lang="en-US" sz="12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title"/>
          </p:nvPr>
        </p:nvSpPr>
        <p:spPr>
          <a:xfrm>
            <a:off x="812800" y="812800"/>
            <a:ext cx="10883392" cy="5283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3960"/>
              </a:lnSpc>
              <a:buNone/>
            </a:pPr>
            <a:r>
              <a:rPr lang="en-US" sz="3600" b="1" i="0" dirty="0">
                <a:solidFill>
                  <a:srgbClr val="1D2433"/>
                </a:solidFill>
                <a:latin typeface="Nunito" pitchFamily="34" charset="0"/>
                <a:ea typeface="Nunito" pitchFamily="34" charset="-122"/>
                <a:cs typeface="Nunito" pitchFamily="34" charset="-120"/>
              </a:rPr>
              <a:t>Где потратить минутки</a:t>
            </a:r>
            <a:endParaRPr lang="en-US" sz="3600" dirty="0"/>
          </a:p>
        </p:txBody>
      </p:sp>
      <p:pic>
        <p:nvPicPr>
          <p:cNvPr id="3" name="Image 0" descr="Монета-минутка"/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812800" y="2665729"/>
            <a:ext cx="2032000" cy="203200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3251200" y="2811144"/>
            <a:ext cx="6585739" cy="4165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3080"/>
              </a:lnSpc>
              <a:buNone/>
            </a:pPr>
            <a:r>
              <a:rPr lang="en-US" sz="2200" b="1" dirty="0">
                <a:solidFill>
                  <a:srgbClr val="3C4558"/>
                </a:solidFill>
                <a:latin typeface="Nunito" pitchFamily="34" charset="0"/>
                <a:ea typeface="Nunito" pitchFamily="34" charset="-122"/>
                <a:cs typeface="Nunito" pitchFamily="34" charset="-120"/>
              </a:rPr>
              <a:t>В школьном буфете по курсу</a:t>
            </a:r>
            <a:endParaRPr lang="en-US" sz="2200" dirty="0"/>
          </a:p>
        </p:txBody>
      </p:sp>
      <p:sp>
        <p:nvSpPr>
          <p:cNvPr id="5" name="Text 2"/>
          <p:cNvSpPr/>
          <p:nvPr/>
        </p:nvSpPr>
        <p:spPr>
          <a:xfrm>
            <a:off x="3152346" y="3681729"/>
            <a:ext cx="7672705" cy="8255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6300"/>
              </a:lnSpc>
              <a:buNone/>
            </a:pPr>
            <a:r>
              <a:rPr lang="en-US" sz="6000" b="1" dirty="0">
                <a:solidFill>
                  <a:srgbClr val="2456C9"/>
                </a:solidFill>
                <a:latin typeface="Nunito" pitchFamily="34" charset="0"/>
                <a:ea typeface="Nunito" pitchFamily="34" charset="-122"/>
                <a:cs typeface="Nunito" pitchFamily="34" charset="-120"/>
              </a:rPr>
              <a:t>1 минутка = 30 ₽</a:t>
            </a:r>
            <a:endParaRPr lang="en-US" sz="6000" dirty="0"/>
          </a:p>
        </p:txBody>
      </p:sp>
      <p:sp>
        <p:nvSpPr>
          <p:cNvPr id="6" name="Text 3"/>
          <p:cNvSpPr/>
          <p:nvPr/>
        </p:nvSpPr>
        <p:spPr>
          <a:xfrm>
            <a:off x="812800" y="6238239"/>
            <a:ext cx="7848600" cy="238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680"/>
              </a:lnSpc>
              <a:buNone/>
            </a:pPr>
            <a:r>
              <a:rPr lang="en-US" sz="1200" dirty="0">
                <a:solidFill>
                  <a:srgbClr val="5B6475"/>
                </a:solidFill>
                <a:latin typeface="Nunito" pitchFamily="34" charset="0"/>
                <a:ea typeface="Nunito" pitchFamily="34" charset="-122"/>
                <a:cs typeface="Nunito" pitchFamily="34" charset="-120"/>
              </a:rPr>
              <a:t>ЧОУ СОШ «Поколение» · Минутки</a:t>
            </a:r>
            <a:endParaRPr lang="en-US" sz="1200" dirty="0"/>
          </a:p>
        </p:txBody>
      </p:sp>
      <p:sp>
        <p:nvSpPr>
          <p:cNvPr id="7" name="Text 4"/>
          <p:cNvSpPr/>
          <p:nvPr/>
        </p:nvSpPr>
        <p:spPr>
          <a:xfrm>
            <a:off x="10058400" y="6238239"/>
            <a:ext cx="1320800" cy="238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r">
              <a:lnSpc>
                <a:spcPts val="1680"/>
              </a:lnSpc>
              <a:buNone/>
            </a:pPr>
            <a:r>
              <a:rPr lang="en-US" sz="1200" dirty="0">
                <a:solidFill>
                  <a:srgbClr val="5B6475"/>
                </a:solidFill>
                <a:latin typeface="Nunito" pitchFamily="34" charset="0"/>
                <a:ea typeface="Nunito" pitchFamily="34" charset="-122"/>
                <a:cs typeface="Nunito" pitchFamily="34" charset="-120"/>
              </a:rPr>
              <a:t>6</a:t>
            </a:r>
            <a:endParaRPr lang="en-US" sz="12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title"/>
          </p:nvPr>
        </p:nvSpPr>
        <p:spPr>
          <a:xfrm>
            <a:off x="812800" y="812800"/>
            <a:ext cx="10883392" cy="5283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3960"/>
              </a:lnSpc>
              <a:buNone/>
            </a:pPr>
            <a:r>
              <a:rPr lang="en-US" sz="3600" b="1" i="0" dirty="0">
                <a:solidFill>
                  <a:srgbClr val="1D2433"/>
                </a:solidFill>
                <a:latin typeface="Nunito" pitchFamily="34" charset="0"/>
                <a:ea typeface="Nunito" pitchFamily="34" charset="-122"/>
                <a:cs typeface="Nunito" pitchFamily="34" charset="-120"/>
              </a:rPr>
              <a:t>Сколько это в рублях</a:t>
            </a:r>
            <a:endParaRPr lang="en-US" sz="3600" dirty="0"/>
          </a:p>
        </p:txBody>
      </p:sp>
      <p:graphicFrame>
        <p:nvGraphicFramePr>
          <p:cNvPr id="3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825500" y="2778761"/>
          <a:ext cx="5194300" cy="3063240"/>
        </p:xfrm>
        <a:graphic>
          <a:graphicData uri="http://schemas.openxmlformats.org/drawingml/2006/table">
            <a:tbl>
              <a:tblPr/>
              <a:tblGrid>
                <a:gridCol w="2597150"/>
                <a:gridCol w="2597150"/>
              </a:tblGrid>
              <a:tr h="510540">
                <a:tc>
                  <a:txBody>
                    <a:bodyPr/>
                    <a:lstStyle/>
                    <a:p>
                      <a:pPr marL="0" indent="0">
                        <a:lnSpc>
                          <a:spcPts val="2520"/>
                        </a:lnSpc>
                        <a:buNone/>
                      </a:pPr>
                      <a:r>
                        <a:rPr lang="en-US" sz="1800" b="1" dirty="0">
                          <a:solidFill>
                            <a:srgbClr val="1D2433"/>
                          </a:solidFill>
                          <a:latin typeface="Nunito" pitchFamily="34" charset="0"/>
                          <a:ea typeface="Nunito" pitchFamily="34" charset="-122"/>
                          <a:cs typeface="Nunito" pitchFamily="34" charset="-120"/>
                        </a:rPr>
                        <a:t>Минутки</a:t>
                      </a:r>
                      <a:endParaRPr lang="en-US" sz="1800" dirty="0">
                        <a:latin typeface="Nunito" charset="0"/>
                        <a:ea typeface="Nunito" charset="0"/>
                        <a:cs typeface="Nunito" charset="0"/>
                      </a:endParaRPr>
                    </a:p>
                  </a:txBody>
                  <a:tcPr marL="152400" marR="152400" marT="88900" marB="88900">
                    <a:lnL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CBC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CBC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CE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lnSpc>
                          <a:spcPts val="2520"/>
                        </a:lnSpc>
                        <a:buNone/>
                      </a:pPr>
                      <a:r>
                        <a:rPr lang="en-US" sz="1800" b="1" dirty="0">
                          <a:solidFill>
                            <a:srgbClr val="1D2433"/>
                          </a:solidFill>
                          <a:latin typeface="Nunito" pitchFamily="34" charset="0"/>
                          <a:ea typeface="Nunito" pitchFamily="34" charset="-122"/>
                          <a:cs typeface="Nunito" pitchFamily="34" charset="-120"/>
                        </a:rPr>
                        <a:t>Рубли</a:t>
                      </a:r>
                      <a:endParaRPr lang="en-US" sz="1800" dirty="0">
                        <a:latin typeface="Nunito" charset="0"/>
                        <a:ea typeface="Nunito" charset="0"/>
                        <a:cs typeface="Nunito" charset="0"/>
                      </a:endParaRPr>
                    </a:p>
                  </a:txBody>
                  <a:tcPr marL="152400" marR="152400" marT="88900" marB="88900">
                    <a:lnL w="12700" cap="flat" cmpd="sng" algn="ctr">
                      <a:solidFill>
                        <a:srgbClr val="BCBC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CBC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CBC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CEC"/>
                    </a:solidFill>
                  </a:tcPr>
                </a:tc>
              </a:tr>
              <a:tr h="510540">
                <a:tc>
                  <a:txBody>
                    <a:bodyPr/>
                    <a:lstStyle/>
                    <a:p>
                      <a:pPr marL="0" indent="0">
                        <a:lnSpc>
                          <a:spcPts val="2520"/>
                        </a:lnSpc>
                        <a:buNone/>
                      </a:pPr>
                      <a:r>
                        <a:rPr lang="en-US" sz="1800" dirty="0">
                          <a:solidFill>
                            <a:srgbClr val="1D2433"/>
                          </a:solidFill>
                          <a:latin typeface="Nunito" pitchFamily="34" charset="0"/>
                          <a:ea typeface="Nunito" pitchFamily="34" charset="-122"/>
                          <a:cs typeface="Nunito" pitchFamily="34" charset="-120"/>
                        </a:rPr>
                        <a:t>1 минутка</a:t>
                      </a:r>
                      <a:endParaRPr lang="en-US" sz="1800" dirty="0">
                        <a:latin typeface="Nunito" charset="0"/>
                        <a:ea typeface="Nunito" charset="0"/>
                        <a:cs typeface="Nunito" charset="0"/>
                      </a:endParaRPr>
                    </a:p>
                  </a:txBody>
                  <a:tcPr marL="152400" marR="152400" marT="88900" marB="88900">
                    <a:lnL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CBC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lnSpc>
                          <a:spcPts val="2520"/>
                        </a:lnSpc>
                        <a:buNone/>
                      </a:pPr>
                      <a:r>
                        <a:rPr lang="en-US" sz="1800" dirty="0">
                          <a:solidFill>
                            <a:srgbClr val="2456C9"/>
                          </a:solidFill>
                          <a:latin typeface="Nunito" pitchFamily="34" charset="0"/>
                          <a:ea typeface="Nunito" pitchFamily="34" charset="-122"/>
                          <a:cs typeface="Nunito" pitchFamily="34" charset="-120"/>
                        </a:rPr>
                        <a:t>30 ₽</a:t>
                      </a:r>
                      <a:endParaRPr lang="en-US" sz="1800" dirty="0">
                        <a:latin typeface="Nunito" charset="0"/>
                        <a:ea typeface="Nunito" charset="0"/>
                        <a:cs typeface="Nunito" charset="0"/>
                      </a:endParaRPr>
                    </a:p>
                  </a:txBody>
                  <a:tcPr marL="152400" marR="152400" marT="88900" marB="88900">
                    <a:lnL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CBC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10540">
                <a:tc>
                  <a:txBody>
                    <a:bodyPr/>
                    <a:lstStyle/>
                    <a:p>
                      <a:pPr marL="0" indent="0">
                        <a:lnSpc>
                          <a:spcPts val="2520"/>
                        </a:lnSpc>
                        <a:buNone/>
                      </a:pPr>
                      <a:r>
                        <a:rPr lang="en-US" sz="1800" dirty="0">
                          <a:solidFill>
                            <a:srgbClr val="1D2433"/>
                          </a:solidFill>
                          <a:latin typeface="Nunito" pitchFamily="34" charset="0"/>
                          <a:ea typeface="Nunito" pitchFamily="34" charset="-122"/>
                          <a:cs typeface="Nunito" pitchFamily="34" charset="-120"/>
                        </a:rPr>
                        <a:t>2 минутки</a:t>
                      </a:r>
                      <a:endParaRPr lang="en-US" sz="1800" dirty="0">
                        <a:latin typeface="Nunito" charset="0"/>
                        <a:ea typeface="Nunito" charset="0"/>
                        <a:cs typeface="Nunito" charset="0"/>
                      </a:endParaRPr>
                    </a:p>
                  </a:txBody>
                  <a:tcPr marL="152400" marR="152400" marT="88900" marB="88900">
                    <a:lnL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lnSpc>
                          <a:spcPts val="2520"/>
                        </a:lnSpc>
                        <a:buNone/>
                      </a:pPr>
                      <a:r>
                        <a:rPr lang="en-US" sz="1800" dirty="0">
                          <a:solidFill>
                            <a:srgbClr val="2456C9"/>
                          </a:solidFill>
                          <a:latin typeface="Nunito" pitchFamily="34" charset="0"/>
                          <a:ea typeface="Nunito" pitchFamily="34" charset="-122"/>
                          <a:cs typeface="Nunito" pitchFamily="34" charset="-120"/>
                        </a:rPr>
                        <a:t>60 ₽</a:t>
                      </a:r>
                      <a:endParaRPr lang="en-US" sz="1800" dirty="0">
                        <a:latin typeface="Nunito" charset="0"/>
                        <a:ea typeface="Nunito" charset="0"/>
                        <a:cs typeface="Nunito" charset="0"/>
                      </a:endParaRPr>
                    </a:p>
                  </a:txBody>
                  <a:tcPr marL="152400" marR="152400" marT="88900" marB="88900">
                    <a:lnL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10540">
                <a:tc>
                  <a:txBody>
                    <a:bodyPr/>
                    <a:lstStyle/>
                    <a:p>
                      <a:pPr marL="0" indent="0">
                        <a:lnSpc>
                          <a:spcPts val="2520"/>
                        </a:lnSpc>
                        <a:buNone/>
                      </a:pPr>
                      <a:r>
                        <a:rPr lang="en-US" sz="1800" dirty="0">
                          <a:solidFill>
                            <a:srgbClr val="1D2433"/>
                          </a:solidFill>
                          <a:latin typeface="Nunito" pitchFamily="34" charset="0"/>
                          <a:ea typeface="Nunito" pitchFamily="34" charset="-122"/>
                          <a:cs typeface="Nunito" pitchFamily="34" charset="-120"/>
                        </a:rPr>
                        <a:t>3 минутки</a:t>
                      </a:r>
                      <a:endParaRPr lang="en-US" sz="1800" dirty="0">
                        <a:latin typeface="Nunito" charset="0"/>
                        <a:ea typeface="Nunito" charset="0"/>
                        <a:cs typeface="Nunito" charset="0"/>
                      </a:endParaRPr>
                    </a:p>
                  </a:txBody>
                  <a:tcPr marL="152400" marR="152400" marT="88900" marB="88900">
                    <a:lnL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lnSpc>
                          <a:spcPts val="2520"/>
                        </a:lnSpc>
                        <a:buNone/>
                      </a:pPr>
                      <a:r>
                        <a:rPr lang="en-US" sz="1800" dirty="0">
                          <a:solidFill>
                            <a:srgbClr val="2456C9"/>
                          </a:solidFill>
                          <a:latin typeface="Nunito" pitchFamily="34" charset="0"/>
                          <a:ea typeface="Nunito" pitchFamily="34" charset="-122"/>
                          <a:cs typeface="Nunito" pitchFamily="34" charset="-120"/>
                        </a:rPr>
                        <a:t>90 ₽</a:t>
                      </a:r>
                      <a:endParaRPr lang="en-US" sz="1800" dirty="0">
                        <a:latin typeface="Nunito" charset="0"/>
                        <a:ea typeface="Nunito" charset="0"/>
                        <a:cs typeface="Nunito" charset="0"/>
                      </a:endParaRPr>
                    </a:p>
                  </a:txBody>
                  <a:tcPr marL="152400" marR="152400" marT="88900" marB="88900">
                    <a:lnL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10540">
                <a:tc>
                  <a:txBody>
                    <a:bodyPr/>
                    <a:lstStyle/>
                    <a:p>
                      <a:pPr marL="0" indent="0">
                        <a:lnSpc>
                          <a:spcPts val="2520"/>
                        </a:lnSpc>
                        <a:buNone/>
                      </a:pPr>
                      <a:r>
                        <a:rPr lang="en-US" sz="1800" dirty="0">
                          <a:solidFill>
                            <a:srgbClr val="1D2433"/>
                          </a:solidFill>
                          <a:latin typeface="Nunito" pitchFamily="34" charset="0"/>
                          <a:ea typeface="Nunito" pitchFamily="34" charset="-122"/>
                          <a:cs typeface="Nunito" pitchFamily="34" charset="-120"/>
                        </a:rPr>
                        <a:t>5 минуток</a:t>
                      </a:r>
                      <a:endParaRPr lang="en-US" sz="1800" dirty="0">
                        <a:latin typeface="Nunito" charset="0"/>
                        <a:ea typeface="Nunito" charset="0"/>
                        <a:cs typeface="Nunito" charset="0"/>
                      </a:endParaRPr>
                    </a:p>
                  </a:txBody>
                  <a:tcPr marL="152400" marR="152400" marT="88900" marB="88900">
                    <a:lnL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lnSpc>
                          <a:spcPts val="2520"/>
                        </a:lnSpc>
                        <a:buNone/>
                      </a:pPr>
                      <a:r>
                        <a:rPr lang="en-US" sz="1800" dirty="0">
                          <a:solidFill>
                            <a:srgbClr val="2456C9"/>
                          </a:solidFill>
                          <a:latin typeface="Nunito" pitchFamily="34" charset="0"/>
                          <a:ea typeface="Nunito" pitchFamily="34" charset="-122"/>
                          <a:cs typeface="Nunito" pitchFamily="34" charset="-120"/>
                        </a:rPr>
                        <a:t>150 ₽</a:t>
                      </a:r>
                      <a:endParaRPr lang="en-US" sz="1800" dirty="0">
                        <a:latin typeface="Nunito" charset="0"/>
                        <a:ea typeface="Nunito" charset="0"/>
                        <a:cs typeface="Nunito" charset="0"/>
                      </a:endParaRPr>
                    </a:p>
                  </a:txBody>
                  <a:tcPr marL="152400" marR="152400" marT="88900" marB="88900">
                    <a:lnL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10540">
                <a:tc>
                  <a:txBody>
                    <a:bodyPr/>
                    <a:lstStyle/>
                    <a:p>
                      <a:pPr marL="0" indent="0">
                        <a:lnSpc>
                          <a:spcPts val="2520"/>
                        </a:lnSpc>
                        <a:buNone/>
                      </a:pPr>
                      <a:r>
                        <a:rPr lang="en-US" sz="1800" dirty="0">
                          <a:solidFill>
                            <a:srgbClr val="1D2433"/>
                          </a:solidFill>
                          <a:latin typeface="Nunito" pitchFamily="34" charset="0"/>
                          <a:ea typeface="Nunito" pitchFamily="34" charset="-122"/>
                          <a:cs typeface="Nunito" pitchFamily="34" charset="-120"/>
                        </a:rPr>
                        <a:t>10 минуток</a:t>
                      </a:r>
                      <a:endParaRPr lang="en-US" sz="1800" dirty="0">
                        <a:latin typeface="Nunito" charset="0"/>
                        <a:ea typeface="Nunito" charset="0"/>
                        <a:cs typeface="Nunito" charset="0"/>
                      </a:endParaRPr>
                    </a:p>
                  </a:txBody>
                  <a:tcPr marL="152400" marR="152400" marT="88900" marB="88900">
                    <a:lnL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lnSpc>
                          <a:spcPts val="2520"/>
                        </a:lnSpc>
                        <a:buNone/>
                      </a:pPr>
                      <a:r>
                        <a:rPr lang="en-US" sz="1800" dirty="0">
                          <a:solidFill>
                            <a:srgbClr val="2456C9"/>
                          </a:solidFill>
                          <a:latin typeface="Nunito" pitchFamily="34" charset="0"/>
                          <a:ea typeface="Nunito" pitchFamily="34" charset="-122"/>
                          <a:cs typeface="Nunito" pitchFamily="34" charset="-120"/>
                        </a:rPr>
                        <a:t>300 ₽</a:t>
                      </a:r>
                      <a:endParaRPr lang="en-US" sz="1800" dirty="0">
                        <a:latin typeface="Nunito" charset="0"/>
                        <a:ea typeface="Nunito" charset="0"/>
                        <a:cs typeface="Nunito" charset="0"/>
                      </a:endParaRPr>
                    </a:p>
                  </a:txBody>
                  <a:tcPr marL="152400" marR="152400" marT="88900" marB="88900">
                    <a:lnL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4" name="Shape 1"/>
          <p:cNvSpPr/>
          <p:nvPr/>
        </p:nvSpPr>
        <p:spPr>
          <a:xfrm>
            <a:off x="6426200" y="2766061"/>
            <a:ext cx="4953000" cy="1978660"/>
          </a:xfrm>
          <a:prstGeom prst="roundRect">
            <a:avLst>
              <a:gd name="adj" fmla="val 6418"/>
            </a:avLst>
          </a:prstGeom>
          <a:solidFill>
            <a:srgbClr val="FFF6E0"/>
          </a:solidFill>
          <a:ln/>
        </p:spPr>
      </p:sp>
      <p:sp>
        <p:nvSpPr>
          <p:cNvPr id="5" name="Text 2"/>
          <p:cNvSpPr/>
          <p:nvPr/>
        </p:nvSpPr>
        <p:spPr>
          <a:xfrm>
            <a:off x="6731000" y="3070861"/>
            <a:ext cx="4473702" cy="3175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2300"/>
              </a:lnSpc>
              <a:buNone/>
            </a:pPr>
            <a:r>
              <a:rPr lang="en-US" sz="2000" b="1" dirty="0">
                <a:solidFill>
                  <a:srgbClr val="1D2433"/>
                </a:solidFill>
                <a:latin typeface="Nunito" pitchFamily="34" charset="0"/>
                <a:ea typeface="Nunito" pitchFamily="34" charset="-122"/>
                <a:cs typeface="Nunito" pitchFamily="34" charset="-120"/>
              </a:rPr>
              <a:t>Как посчитать</a:t>
            </a:r>
            <a:endParaRPr lang="en-US" sz="2000" dirty="0"/>
          </a:p>
        </p:txBody>
      </p:sp>
      <p:sp>
        <p:nvSpPr>
          <p:cNvPr id="6" name="Text 3"/>
          <p:cNvSpPr/>
          <p:nvPr/>
        </p:nvSpPr>
        <p:spPr>
          <a:xfrm>
            <a:off x="6731000" y="3489961"/>
            <a:ext cx="4473702" cy="299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2160"/>
              </a:lnSpc>
              <a:buNone/>
            </a:pPr>
            <a:r>
              <a:rPr lang="en-US" sz="1600" dirty="0">
                <a:solidFill>
                  <a:srgbClr val="3C4558"/>
                </a:solidFill>
                <a:latin typeface="Nunito" pitchFamily="34" charset="0"/>
                <a:ea typeface="Nunito" pitchFamily="34" charset="-122"/>
                <a:cs typeface="Nunito" pitchFamily="34" charset="-120"/>
              </a:rPr>
              <a:t>Цена в рублях ÷ 30 = цена в минутках</a:t>
            </a:r>
            <a:endParaRPr lang="en-US" sz="1600" dirty="0"/>
          </a:p>
        </p:txBody>
      </p:sp>
      <p:sp>
        <p:nvSpPr>
          <p:cNvPr id="7" name="Text 4"/>
          <p:cNvSpPr/>
          <p:nvPr/>
        </p:nvSpPr>
        <p:spPr>
          <a:xfrm>
            <a:off x="6731000" y="3891279"/>
            <a:ext cx="4473702" cy="5740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2160"/>
              </a:lnSpc>
              <a:buNone/>
            </a:pPr>
            <a:r>
              <a:rPr lang="en-US" sz="1600" dirty="0">
                <a:solidFill>
                  <a:srgbClr val="3C4558"/>
                </a:solidFill>
                <a:latin typeface="Nunito" pitchFamily="34" charset="0"/>
                <a:ea typeface="Nunito" pitchFamily="34" charset="-122"/>
                <a:cs typeface="Nunito" pitchFamily="34" charset="-120"/>
              </a:rPr>
              <a:t>Например, если товар стоит 90 ₽, он </a:t>
            </a:r>
            <a:r>
              <a:rPr lang="en-US" sz="1600" b="1" dirty="0">
                <a:solidFill>
                  <a:srgbClr val="3C4558"/>
                </a:solidFill>
                <a:latin typeface="Nunito" pitchFamily="34" charset="0"/>
                <a:ea typeface="Nunito" pitchFamily="34" charset="-122"/>
                <a:cs typeface="Nunito" pitchFamily="34" charset="-120"/>
              </a:rPr>
              <a:t>стоит 3 минутки</a:t>
            </a:r>
            <a:endParaRPr lang="en-US" sz="1600" dirty="0"/>
          </a:p>
        </p:txBody>
      </p:sp>
      <p:sp>
        <p:nvSpPr>
          <p:cNvPr id="8" name="Text 5"/>
          <p:cNvSpPr/>
          <p:nvPr/>
        </p:nvSpPr>
        <p:spPr>
          <a:xfrm>
            <a:off x="812800" y="6238239"/>
            <a:ext cx="7848600" cy="238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680"/>
              </a:lnSpc>
              <a:buNone/>
            </a:pPr>
            <a:r>
              <a:rPr lang="en-US" sz="1200" dirty="0">
                <a:solidFill>
                  <a:srgbClr val="5B6475"/>
                </a:solidFill>
                <a:latin typeface="Nunito" pitchFamily="34" charset="0"/>
                <a:ea typeface="Nunito" pitchFamily="34" charset="-122"/>
                <a:cs typeface="Nunito" pitchFamily="34" charset="-120"/>
              </a:rPr>
              <a:t>ЧОУ СОШ «Поколение» · Минутки</a:t>
            </a:r>
            <a:endParaRPr lang="en-US" sz="1200" dirty="0"/>
          </a:p>
        </p:txBody>
      </p:sp>
      <p:sp>
        <p:nvSpPr>
          <p:cNvPr id="9" name="Text 6"/>
          <p:cNvSpPr/>
          <p:nvPr/>
        </p:nvSpPr>
        <p:spPr>
          <a:xfrm>
            <a:off x="10058400" y="6238239"/>
            <a:ext cx="1320800" cy="238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r">
              <a:lnSpc>
                <a:spcPts val="1680"/>
              </a:lnSpc>
              <a:buNone/>
            </a:pPr>
            <a:r>
              <a:rPr lang="en-US" sz="1200" dirty="0">
                <a:solidFill>
                  <a:srgbClr val="5B6475"/>
                </a:solidFill>
                <a:latin typeface="Nunito" pitchFamily="34" charset="0"/>
                <a:ea typeface="Nunito" pitchFamily="34" charset="-122"/>
                <a:cs typeface="Nunito" pitchFamily="34" charset="-120"/>
              </a:rPr>
              <a:t>7</a:t>
            </a:r>
            <a:endParaRPr lang="en-US" sz="12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Логотип школы «Поколение»"/>
          <p:cNvPicPr>
            <a:picLocks noChangeAspect="1"/>
          </p:cNvPicPr>
          <p:nvPr/>
        </p:nvPicPr>
        <p:blipFill>
          <a:blip r:embed="rId3"/>
          <a:srcRect t="-1020" b="-1020"/>
          <a:stretch/>
        </p:blipFill>
        <p:spPr>
          <a:xfrm>
            <a:off x="812800" y="1851661"/>
            <a:ext cx="1143000" cy="1143000"/>
          </a:xfrm>
          <a:prstGeom prst="rect">
            <a:avLst/>
          </a:prstGeom>
        </p:spPr>
      </p:pic>
      <p:sp>
        <p:nvSpPr>
          <p:cNvPr id="3" name="Text 0"/>
          <p:cNvSpPr>
            <a:spLocks noGrp="1"/>
          </p:cNvSpPr>
          <p:nvPr>
            <p:ph type="title"/>
          </p:nvPr>
        </p:nvSpPr>
        <p:spPr>
          <a:xfrm>
            <a:off x="812800" y="3197861"/>
            <a:ext cx="6932930" cy="13665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5280"/>
              </a:lnSpc>
              <a:buNone/>
            </a:pPr>
            <a:r>
              <a:rPr lang="en-US" sz="4800" b="1" i="0" dirty="0">
                <a:solidFill>
                  <a:srgbClr val="1D2433"/>
                </a:solidFill>
                <a:latin typeface="Nunito" pitchFamily="34" charset="0"/>
                <a:ea typeface="Nunito" pitchFamily="34" charset="-122"/>
                <a:cs typeface="Nunito" pitchFamily="34" charset="-120"/>
              </a:rPr>
              <a:t>Делай интересное — </a:t>
            </a:r>
            <a:r>
              <a:rPr lang="en-US" sz="4800" b="1" i="0" dirty="0">
                <a:solidFill>
                  <a:srgbClr val="2456C9"/>
                </a:solidFill>
                <a:latin typeface="Nunito" pitchFamily="34" charset="0"/>
                <a:ea typeface="Nunito" pitchFamily="34" charset="-122"/>
                <a:cs typeface="Nunito" pitchFamily="34" charset="-120"/>
              </a:rPr>
              <a:t>получай минутки!</a:t>
            </a:r>
            <a:endParaRPr lang="en-US" sz="4800" dirty="0"/>
          </a:p>
        </p:txBody>
      </p:sp>
      <p:sp>
        <p:nvSpPr>
          <p:cNvPr id="4" name="Text 1"/>
          <p:cNvSpPr/>
          <p:nvPr/>
        </p:nvSpPr>
        <p:spPr>
          <a:xfrm>
            <a:off x="812800" y="4742179"/>
            <a:ext cx="6932930" cy="2895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2080"/>
              </a:lnSpc>
              <a:buNone/>
            </a:pPr>
            <a:r>
              <a:rPr lang="en-US" sz="1600" dirty="0">
                <a:solidFill>
                  <a:srgbClr val="5B6475"/>
                </a:solidFill>
                <a:latin typeface="Nunito" pitchFamily="34" charset="0"/>
                <a:ea typeface="Nunito" pitchFamily="34" charset="-122"/>
                <a:cs typeface="Nunito" pitchFamily="34" charset="-120"/>
              </a:rPr>
              <a:t>ЧОУ СОШ «Поколение»</a:t>
            </a:r>
            <a:endParaRPr lang="en-US" sz="1600" dirty="0"/>
          </a:p>
        </p:txBody>
      </p:sp>
      <p:pic>
        <p:nvPicPr>
          <p:cNvPr id="5" name="Image 1" descr="Монета-минутка: золотая монета с часами"/>
          <p:cNvPicPr>
            <a:picLocks noChangeAspect="1"/>
          </p:cNvPicPr>
          <p:nvPr/>
        </p:nvPicPr>
        <p:blipFill>
          <a:blip r:embed="rId4"/>
          <a:srcRect/>
          <a:stretch/>
        </p:blipFill>
        <p:spPr>
          <a:xfrm>
            <a:off x="8585200" y="2032000"/>
            <a:ext cx="2794000" cy="279400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Минутки — школьная валюта">
  <a:themeElements>
    <a:clrScheme name="Минутки — школьная валюта">
      <a:dk1>
        <a:srgbClr val="1D2433"/>
      </a:dk1>
      <a:lt1>
        <a:srgbClr val="FFFFFF"/>
      </a:lt1>
      <a:dk2>
        <a:srgbClr val="565B66"/>
      </a:dk2>
      <a:lt2>
        <a:srgbClr val="E8E9EB"/>
      </a:lt2>
      <a:accent1>
        <a:srgbClr val="2456C9"/>
      </a:accent1>
      <a:accent2>
        <a:srgbClr val="E9A62A"/>
      </a:accent2>
      <a:accent3>
        <a:srgbClr val="5B6475"/>
      </a:accent3>
      <a:accent4>
        <a:srgbClr val="3C4558"/>
      </a:accent4>
      <a:accent5>
        <a:srgbClr val="FFF6E0"/>
      </a:accent5>
      <a:accent6>
        <a:srgbClr val="9AA0A6"/>
      </a:accent6>
      <a:hlink>
        <a:srgbClr val="0563C1"/>
      </a:hlink>
      <a:folHlink>
        <a:srgbClr val="954F72"/>
      </a:folHlink>
    </a:clrScheme>
    <a:fontScheme name="Минутки — школьная валюта">
      <a:majorFont>
        <a:latin typeface="Nunito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Nunito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Тема Office">
  <a:themeElements>
    <a:clrScheme name="Стандартная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Стандартная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Стандартная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33</TotalTime>
  <Words>544</Words>
  <Application>Microsoft Office PowerPoint</Application>
  <PresentationFormat>Широкоэкранный</PresentationFormat>
  <Paragraphs>96</Paragraphs>
  <Slides>8</Slides>
  <Notes>8</Notes>
  <HiddenSlides>0</HiddenSlides>
  <MMClips>0</MMClips>
  <ScaleCrop>false</ScaleCrop>
  <HeadingPairs>
    <vt:vector size="6" baseType="variant">
      <vt:variant>
        <vt:lpstr>Использованные шрифты</vt:lpstr>
      </vt:variant>
      <vt:variant>
        <vt:i4>3</vt:i4>
      </vt:variant>
      <vt:variant>
        <vt:lpstr>Тема</vt:lpstr>
      </vt:variant>
      <vt:variant>
        <vt:i4>1</vt:i4>
      </vt:variant>
      <vt:variant>
        <vt:lpstr>Заголовки слайдов</vt:lpstr>
      </vt:variant>
      <vt:variant>
        <vt:i4>8</vt:i4>
      </vt:variant>
    </vt:vector>
  </HeadingPairs>
  <TitlesOfParts>
    <vt:vector size="12" baseType="lpstr">
      <vt:lpstr>Arial</vt:lpstr>
      <vt:lpstr>Calibri</vt:lpstr>
      <vt:lpstr>Nunito</vt:lpstr>
      <vt:lpstr>Минутки — школьная валюта</vt:lpstr>
      <vt:lpstr>Минутки</vt:lpstr>
      <vt:lpstr>Что такое минутка</vt:lpstr>
      <vt:lpstr>Как заработать минутки</vt:lpstr>
      <vt:lpstr>Что может стать проектом</vt:lpstr>
      <vt:lpstr>Как это работает</vt:lpstr>
      <vt:lpstr>Где потратить минутки</vt:lpstr>
      <vt:lpstr>Сколько это в рублях</vt:lpstr>
      <vt:lpstr>Делай интересное — получай минутки!</vt:lpstr>
    </vt:vector>
  </TitlesOfParts>
  <Company/>
  <LinksUpToDate>false</LinksUpToDate>
  <SharedDoc>false</SharedDoc>
  <HyperlinksChanged>false</HyperlinksChanged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Минутки — школьная валюта</dc:title>
  <dc:subject/>
  <dc:creator/>
  <cp:lastModifiedBy>1-02 (8)</cp:lastModifiedBy>
  <cp:revision>6</cp:revision>
  <dcterms:created xsi:type="dcterms:W3CDTF">2026-10-18T05:02:18Z</dcterms:created>
  <dcterms:modified xsi:type="dcterms:W3CDTF">2026-10-20T13:20:23Z</dcterms:modified>
</cp:coreProperties>
</file>